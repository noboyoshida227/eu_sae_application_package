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7e94f6e4984ac0" /><Relationship Type="http://schemas.openxmlformats.org/officeDocument/2006/relationships/extended-properties" Target="/docProps/app.xml" Id="R7e621a21708d45df" /><Relationship Type="http://schemas.openxmlformats.org/officeDocument/2006/relationships/officeDocument" Target="/ppt/presentation.xml" Id="R6fd252cd2d8f46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93f84d849b4847"/>
  </p:sldMasterIdLst>
  <p:notesMasterIdLst>
    <p:notesMasterId xmlns:r="http://schemas.openxmlformats.org/officeDocument/2006/relationships" r:id="R4b53bb14910844b0"/>
  </p:notesMasterIdLst>
  <p:sldIdLst>
    <p:sldId xmlns:r="http://schemas.openxmlformats.org/officeDocument/2006/relationships" id="256" r:id="R65f19eebf65b46e9"/>
    <p:sldId xmlns:r="http://schemas.openxmlformats.org/officeDocument/2006/relationships" id="257" r:id="R34392ea9508d4dd3"/>
    <p:sldId xmlns:r="http://schemas.openxmlformats.org/officeDocument/2006/relationships" id="258" r:id="R6b55c84f911f42ae"/>
    <p:sldId xmlns:r="http://schemas.openxmlformats.org/officeDocument/2006/relationships" id="259" r:id="R7d1f518c1e6b47b8"/>
    <p:sldId xmlns:r="http://schemas.openxmlformats.org/officeDocument/2006/relationships" id="260" r:id="R47bf20eed4e64c75"/>
    <p:sldId xmlns:r="http://schemas.openxmlformats.org/officeDocument/2006/relationships" id="261" r:id="Rb53ae675f0e64050"/>
    <p:sldId xmlns:r="http://schemas.openxmlformats.org/officeDocument/2006/relationships" id="262" r:id="R5ec809148d3f419c"/>
    <p:sldId xmlns:r="http://schemas.openxmlformats.org/officeDocument/2006/relationships" id="263" r:id="R782b987254144c7f"/>
    <p:sldId xmlns:r="http://schemas.openxmlformats.org/officeDocument/2006/relationships" id="264" r:id="R2d191af768ef4fd5"/>
    <p:sldId xmlns:r="http://schemas.openxmlformats.org/officeDocument/2006/relationships" id="265" r:id="Rf771f365230c42db"/>
    <p:sldId xmlns:r="http://schemas.openxmlformats.org/officeDocument/2006/relationships" id="266" r:id="R99fb351e7157474b"/>
    <p:sldId xmlns:r="http://schemas.openxmlformats.org/officeDocument/2006/relationships" id="267" r:id="R215ce24087214978"/>
    <p:sldId xmlns:r="http://schemas.openxmlformats.org/officeDocument/2006/relationships" id="268" r:id="R42ebc9fa6b4748c1"/>
    <p:sldId xmlns:r="http://schemas.openxmlformats.org/officeDocument/2006/relationships" id="269" r:id="R31e5f4c28fa14381"/>
    <p:sldId xmlns:r="http://schemas.openxmlformats.org/officeDocument/2006/relationships" id="270" r:id="R091f4c7f70a34e37"/>
    <p:sldId xmlns:r="http://schemas.openxmlformats.org/officeDocument/2006/relationships" id="271" r:id="R2c3d378a5ff44584"/>
    <p:sldId xmlns:r="http://schemas.openxmlformats.org/officeDocument/2006/relationships" id="272" r:id="R72a198df5d5245f2"/>
    <p:sldId xmlns:r="http://schemas.openxmlformats.org/officeDocument/2006/relationships" id="273" r:id="R2d7dad15d1dd4880"/>
    <p:sldId xmlns:r="http://schemas.openxmlformats.org/officeDocument/2006/relationships" id="274" r:id="R4489124e725748c0"/>
    <p:sldId xmlns:r="http://schemas.openxmlformats.org/officeDocument/2006/relationships" id="275" r:id="Rfaa0a75a26c6459f"/>
    <p:sldId xmlns:r="http://schemas.openxmlformats.org/officeDocument/2006/relationships" id="276" r:id="Rcb39c06323b54fd9"/>
    <p:sldId xmlns:r="http://schemas.openxmlformats.org/officeDocument/2006/relationships" id="277" r:id="Ra4fd96095e30440a"/>
    <p:sldId xmlns:r="http://schemas.openxmlformats.org/officeDocument/2006/relationships" id="278" r:id="Rc2e6f6357e804fd8"/>
    <p:sldId xmlns:r="http://schemas.openxmlformats.org/officeDocument/2006/relationships" id="279" r:id="R00d424ad013a49f0"/>
    <p:sldId xmlns:r="http://schemas.openxmlformats.org/officeDocument/2006/relationships" id="280" r:id="Rede56c8c39bb478e"/>
    <p:sldId xmlns:r="http://schemas.openxmlformats.org/officeDocument/2006/relationships" id="281" r:id="Rf604f3584b364ae3"/>
    <p:sldId xmlns:r="http://schemas.openxmlformats.org/officeDocument/2006/relationships" id="282" r:id="R546f54cc8af74468"/>
    <p:sldId xmlns:r="http://schemas.openxmlformats.org/officeDocument/2006/relationships" id="283" r:id="R975bfaf33cad4083"/>
    <p:sldId xmlns:r="http://schemas.openxmlformats.org/officeDocument/2006/relationships" id="284" r:id="R47b63e806919430d"/>
    <p:sldId xmlns:r="http://schemas.openxmlformats.org/officeDocument/2006/relationships" id="285" r:id="R162b7443b7a74347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06e184bc29497e" /><Relationship Type="http://schemas.openxmlformats.org/officeDocument/2006/relationships/slideMaster" Target="/ppt/slideMasters/slideMaster1.xml" Id="R0593f84d849b4847" /><Relationship Type="http://schemas.openxmlformats.org/officeDocument/2006/relationships/notesMaster" Target="/ppt/notesMasters/notesMaster1.xml" Id="R4b53bb14910844b0" /><Relationship Type="http://schemas.openxmlformats.org/officeDocument/2006/relationships/presProps" Target="/ppt/presProps.xml" Id="R54ca8a05e5e0436b" /><Relationship Type="http://schemas.openxmlformats.org/officeDocument/2006/relationships/tableStyles" Target="/ppt/tableStyles.xml" Id="R4b728490b39f4406" /><Relationship Type="http://schemas.openxmlformats.org/officeDocument/2006/relationships/slide" Target="/ppt/slides/slide1.xml" Id="R65f19eebf65b46e9" /><Relationship Type="http://schemas.openxmlformats.org/officeDocument/2006/relationships/slide" Target="/ppt/slides/slide2.xml" Id="R34392ea9508d4dd3" /><Relationship Type="http://schemas.openxmlformats.org/officeDocument/2006/relationships/slide" Target="/ppt/slides/slide3.xml" Id="R6b55c84f911f42ae" /><Relationship Type="http://schemas.openxmlformats.org/officeDocument/2006/relationships/slide" Target="/ppt/slides/slide4.xml" Id="R7d1f518c1e6b47b8" /><Relationship Type="http://schemas.openxmlformats.org/officeDocument/2006/relationships/slide" Target="/ppt/slides/slide5.xml" Id="R47bf20eed4e64c75" /><Relationship Type="http://schemas.openxmlformats.org/officeDocument/2006/relationships/slide" Target="/ppt/slides/slide6.xml" Id="Rb53ae675f0e64050" /><Relationship Type="http://schemas.openxmlformats.org/officeDocument/2006/relationships/slide" Target="/ppt/slides/slide7.xml" Id="R5ec809148d3f419c" /><Relationship Type="http://schemas.openxmlformats.org/officeDocument/2006/relationships/slide" Target="/ppt/slides/slide8.xml" Id="R782b987254144c7f" /><Relationship Type="http://schemas.openxmlformats.org/officeDocument/2006/relationships/slide" Target="/ppt/slides/slide9.xml" Id="R2d191af768ef4fd5" /><Relationship Type="http://schemas.openxmlformats.org/officeDocument/2006/relationships/slide" Target="/ppt/slides/slide10.xml" Id="Rf771f365230c42db" /><Relationship Type="http://schemas.openxmlformats.org/officeDocument/2006/relationships/slide" Target="/ppt/slides/slide11.xml" Id="R99fb351e7157474b" /><Relationship Type="http://schemas.openxmlformats.org/officeDocument/2006/relationships/slide" Target="/ppt/slides/slide12.xml" Id="R215ce24087214978" /><Relationship Type="http://schemas.openxmlformats.org/officeDocument/2006/relationships/slide" Target="/ppt/slides/slide13.xml" Id="R42ebc9fa6b4748c1" /><Relationship Type="http://schemas.openxmlformats.org/officeDocument/2006/relationships/slide" Target="/ppt/slides/slide14.xml" Id="R31e5f4c28fa14381" /><Relationship Type="http://schemas.openxmlformats.org/officeDocument/2006/relationships/slide" Target="/ppt/slides/slide15.xml" Id="R091f4c7f70a34e37" /><Relationship Type="http://schemas.openxmlformats.org/officeDocument/2006/relationships/slide" Target="/ppt/slides/slide16.xml" Id="R2c3d378a5ff44584" /><Relationship Type="http://schemas.openxmlformats.org/officeDocument/2006/relationships/slide" Target="/ppt/slides/slide17.xml" Id="R72a198df5d5245f2" /><Relationship Type="http://schemas.openxmlformats.org/officeDocument/2006/relationships/slide" Target="/ppt/slides/slide18.xml" Id="R2d7dad15d1dd4880" /><Relationship Type="http://schemas.openxmlformats.org/officeDocument/2006/relationships/slide" Target="/ppt/slides/slide19.xml" Id="R4489124e725748c0" /><Relationship Type="http://schemas.openxmlformats.org/officeDocument/2006/relationships/slide" Target="/ppt/slides/slide20.xml" Id="Rfaa0a75a26c6459f" /><Relationship Type="http://schemas.openxmlformats.org/officeDocument/2006/relationships/slide" Target="/ppt/slides/slide21.xml" Id="Rcb39c06323b54fd9" /><Relationship Type="http://schemas.openxmlformats.org/officeDocument/2006/relationships/slide" Target="/ppt/slides/slide22.xml" Id="Ra4fd96095e30440a" /><Relationship Type="http://schemas.openxmlformats.org/officeDocument/2006/relationships/slide" Target="/ppt/slides/slide23.xml" Id="Rc2e6f6357e804fd8" /><Relationship Type="http://schemas.openxmlformats.org/officeDocument/2006/relationships/slide" Target="/ppt/slides/slide24.xml" Id="R00d424ad013a49f0" /><Relationship Type="http://schemas.openxmlformats.org/officeDocument/2006/relationships/slide" Target="/ppt/slides/slide25.xml" Id="Rede56c8c39bb478e" /><Relationship Type="http://schemas.openxmlformats.org/officeDocument/2006/relationships/slide" Target="/ppt/slides/slide26.xml" Id="Rf604f3584b364ae3" /><Relationship Type="http://schemas.openxmlformats.org/officeDocument/2006/relationships/slide" Target="/ppt/slides/slide27.xml" Id="R546f54cc8af74468" /><Relationship Type="http://schemas.openxmlformats.org/officeDocument/2006/relationships/slide" Target="/ppt/slides/slide28.xml" Id="R975bfaf33cad4083" /><Relationship Type="http://schemas.openxmlformats.org/officeDocument/2006/relationships/slide" Target="/ppt/slides/slide29.xml" Id="R47b63e806919430d" /><Relationship Type="http://schemas.openxmlformats.org/officeDocument/2006/relationships/slide" Target="/ppt/slides/slide30.xml" Id="R162b7443b7a743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5a5a1255a843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0361c03689441e" /><Relationship Type="http://schemas.openxmlformats.org/officeDocument/2006/relationships/notesMaster" Target="/ppt/notesMasters/notesMaster1.xml" Id="R454eb484347144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89bdad220a45ce" /><Relationship Type="http://schemas.openxmlformats.org/officeDocument/2006/relationships/notesMaster" Target="/ppt/notesMasters/notesMaster1.xml" Id="Rb2bd22a1feca45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11f13b62da4a3c" /><Relationship Type="http://schemas.openxmlformats.org/officeDocument/2006/relationships/notesMaster" Target="/ppt/notesMasters/notesMaster1.xml" Id="R6bea361464724d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84ae53b55e41b0" /><Relationship Type="http://schemas.openxmlformats.org/officeDocument/2006/relationships/notesMaster" Target="/ppt/notesMasters/notesMaster1.xml" Id="R28e6071f058b42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d94bf959794c75" /><Relationship Type="http://schemas.openxmlformats.org/officeDocument/2006/relationships/notesMaster" Target="/ppt/notesMasters/notesMaster1.xml" Id="R6ea8c331a2a641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e251798ed84654" /><Relationship Type="http://schemas.openxmlformats.org/officeDocument/2006/relationships/notesMaster" Target="/ppt/notesMasters/notesMaster1.xml" Id="R8420c14fd44b4b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6b1ee410ba4b0c" /><Relationship Type="http://schemas.openxmlformats.org/officeDocument/2006/relationships/notesMaster" Target="/ppt/notesMasters/notesMaster1.xml" Id="R1f71370606554e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503b34db9d498c" /><Relationship Type="http://schemas.openxmlformats.org/officeDocument/2006/relationships/notesMaster" Target="/ppt/notesMasters/notesMaster1.xml" Id="R345708fbf62541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f8609e2e48412f" /><Relationship Type="http://schemas.openxmlformats.org/officeDocument/2006/relationships/notesMaster" Target="/ppt/notesMasters/notesMaster1.xml" Id="R121460ac40324a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cef89dcd4247b9" /><Relationship Type="http://schemas.openxmlformats.org/officeDocument/2006/relationships/notesMaster" Target="/ppt/notesMasters/notesMaster1.xml" Id="Rc57568e8fc7747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49118d5b734c9b" /><Relationship Type="http://schemas.openxmlformats.org/officeDocument/2006/relationships/notesMaster" Target="/ppt/notesMasters/notesMaster1.xml" Id="R399db0ec28204a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0348a7ef0e49db" /><Relationship Type="http://schemas.openxmlformats.org/officeDocument/2006/relationships/notesMaster" Target="/ppt/notesMasters/notesMaster1.xml" Id="Rfce42bc25a6b41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95433b9e4214f32" /><Relationship Type="http://schemas.openxmlformats.org/officeDocument/2006/relationships/notesMaster" Target="/ppt/notesMasters/notesMaster1.xml" Id="R220c63d8198c4b2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1171a4d6a74bae" /><Relationship Type="http://schemas.openxmlformats.org/officeDocument/2006/relationships/notesMaster" Target="/ppt/notesMasters/notesMaster1.xml" Id="R13ed5ab248f3482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8d888ab6704433" /><Relationship Type="http://schemas.openxmlformats.org/officeDocument/2006/relationships/notesMaster" Target="/ppt/notesMasters/notesMaster1.xml" Id="Rdebf2cfca2d340f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5b5d0dd52b4510" /><Relationship Type="http://schemas.openxmlformats.org/officeDocument/2006/relationships/notesMaster" Target="/ppt/notesMasters/notesMaster1.xml" Id="Rf067f719d65047d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57d4aa5c409416c" /><Relationship Type="http://schemas.openxmlformats.org/officeDocument/2006/relationships/notesMaster" Target="/ppt/notesMasters/notesMaster1.xml" Id="R6282bbf6018d474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0e8ea2768474927" /><Relationship Type="http://schemas.openxmlformats.org/officeDocument/2006/relationships/notesMaster" Target="/ppt/notesMasters/notesMaster1.xml" Id="R5fc718c676ed468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e9339a10cca410c" /><Relationship Type="http://schemas.openxmlformats.org/officeDocument/2006/relationships/notesMaster" Target="/ppt/notesMasters/notesMaster1.xml" Id="R1c8b26f6b0194d9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2a543c682434e47" /><Relationship Type="http://schemas.openxmlformats.org/officeDocument/2006/relationships/notesMaster" Target="/ppt/notesMasters/notesMaster1.xml" Id="R8634f89b8c2e4a6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1c5a91682234c10" /><Relationship Type="http://schemas.openxmlformats.org/officeDocument/2006/relationships/notesMaster" Target="/ppt/notesMasters/notesMaster1.xml" Id="R7863c72521ab49f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fdb6c5acc654cfe" /><Relationship Type="http://schemas.openxmlformats.org/officeDocument/2006/relationships/notesMaster" Target="/ppt/notesMasters/notesMaster1.xml" Id="R1e3337f9820a46c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7b7bfe998464511" /><Relationship Type="http://schemas.openxmlformats.org/officeDocument/2006/relationships/notesMaster" Target="/ppt/notesMasters/notesMaster1.xml" Id="R7ac092a35aac474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9cc15959f7b4dbc" /><Relationship Type="http://schemas.openxmlformats.org/officeDocument/2006/relationships/notesMaster" Target="/ppt/notesMasters/notesMaster1.xml" Id="R2730509d098e46e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cade46269924a41" /><Relationship Type="http://schemas.openxmlformats.org/officeDocument/2006/relationships/notesMaster" Target="/ppt/notesMasters/notesMaster1.xml" Id="R9452767cd27648f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fc673f287a04d17" /><Relationship Type="http://schemas.openxmlformats.org/officeDocument/2006/relationships/notesMaster" Target="/ppt/notesMasters/notesMaster1.xml" Id="R3bca5bcad338495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cd1ce3a9dc24ccf" /><Relationship Type="http://schemas.openxmlformats.org/officeDocument/2006/relationships/notesMaster" Target="/ppt/notesMasters/notesMaster1.xml" Id="Ref0045350b3045b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6575a79d4324c0b" /><Relationship Type="http://schemas.openxmlformats.org/officeDocument/2006/relationships/notesMaster" Target="/ppt/notesMasters/notesMaster1.xml" Id="Rd12f8cf68c934e3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be288aebbdd4cac" /><Relationship Type="http://schemas.openxmlformats.org/officeDocument/2006/relationships/notesMaster" Target="/ppt/notesMasters/notesMaster1.xml" Id="R8b3014fc776f475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4cf9654e3f14da4" /><Relationship Type="http://schemas.openxmlformats.org/officeDocument/2006/relationships/notesMaster" Target="/ppt/notesMasters/notesMaster1.xml" Id="R5cae8a851c3041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894f8fe2d242e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4863fe75c749b6" /><Relationship Type="http://schemas.openxmlformats.org/officeDocument/2006/relationships/slideLayout" Target="/ppt/slideLayouts/slideLayout1.xml" Id="Rc03057b4ad7d47a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476584A-2BBC-8ACE-5E41-9710F16D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927600"/>
            <a:ext cx="9429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Official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3057b4ad7d47a4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da9799f50405f" /><Relationship Type="http://schemas.openxmlformats.org/officeDocument/2006/relationships/image" Target="/ppt/media/image.png" Id="R82155c28a082426a" /><Relationship Type="http://schemas.openxmlformats.org/officeDocument/2006/relationships/image" Target="/ppt/media/image2.png" Id="R4372803e62ae42c4" /><Relationship Type="http://schemas.openxmlformats.org/officeDocument/2006/relationships/image" Target="/ppt/media/image3.png" Id="R4352a538cc034096" /><Relationship Type="http://schemas.openxmlformats.org/officeDocument/2006/relationships/image" Target="/ppt/media/image4.png" Id="R6e02fcd864384d82" /><Relationship Type="http://schemas.openxmlformats.org/officeDocument/2006/relationships/image" Target="/ppt/media/image5.png" Id="Refe9212eab1f48d0" /><Relationship Type="http://schemas.openxmlformats.org/officeDocument/2006/relationships/notesSlide" Target="/ppt/notesSlides/notesSlide1.xml" Id="R3ee1c2cc6c9f41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d6c0fc8fe4c48" /><Relationship Type="http://schemas.openxmlformats.org/officeDocument/2006/relationships/image" Target="/ppt/media/image6.png" Id="R34707de537714fb6" /><Relationship Type="http://schemas.openxmlformats.org/officeDocument/2006/relationships/image" Target="/ppt/media/image7.png" Id="R912ef2d07e074ad2" /><Relationship Type="http://schemas.openxmlformats.org/officeDocument/2006/relationships/image" Target="/ppt/media/image8.png" Id="R14dcecfa268b4cf6" /><Relationship Type="http://schemas.openxmlformats.org/officeDocument/2006/relationships/notesSlide" Target="/ppt/notesSlides/notesSlide2.xml" Id="Rabc8e38da5df42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2011c046843d8" /><Relationship Type="http://schemas.openxmlformats.org/officeDocument/2006/relationships/image" Target="/ppt/media/image9.png" Id="R6ff9c4b212274ed9" /><Relationship Type="http://schemas.openxmlformats.org/officeDocument/2006/relationships/image" Target="/ppt/media/image7.png" Id="Rde89747a7c504442" /><Relationship Type="http://schemas.openxmlformats.org/officeDocument/2006/relationships/image" Target="/ppt/media/image10.png" Id="R00682a13e52a4dd6" /><Relationship Type="http://schemas.openxmlformats.org/officeDocument/2006/relationships/image" Target="/ppt/media/image11.png" Id="Red76c5d1a7984468" /><Relationship Type="http://schemas.openxmlformats.org/officeDocument/2006/relationships/notesSlide" Target="/ppt/notesSlides/notesSlide3.xml" Id="Rd54bc0efd5d348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ecb82d0464ef8" /><Relationship Type="http://schemas.openxmlformats.org/officeDocument/2006/relationships/image" Target="/ppt/media/image7.png" Id="Redf5c18f83ed4125" /><Relationship Type="http://schemas.openxmlformats.org/officeDocument/2006/relationships/image" Target="/ppt/media/image10.png" Id="R4ddbb3c74634471c" /><Relationship Type="http://schemas.openxmlformats.org/officeDocument/2006/relationships/image" Target="/ppt/media/image11.png" Id="Rd2b0550bd2eb4b00" /><Relationship Type="http://schemas.openxmlformats.org/officeDocument/2006/relationships/notesSlide" Target="/ppt/notesSlides/notesSlide4.xml" Id="Rbf515990fe9942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b8700a0b34f0a" /><Relationship Type="http://schemas.openxmlformats.org/officeDocument/2006/relationships/image" Target="/ppt/media/image7.png" Id="R6674743d676640ee" /><Relationship Type="http://schemas.openxmlformats.org/officeDocument/2006/relationships/image" Target="/ppt/media/image10.png" Id="Rf462cc2678b34726" /><Relationship Type="http://schemas.openxmlformats.org/officeDocument/2006/relationships/image" Target="/ppt/media/image11.png" Id="R5a4ecf8dc71a418d" /><Relationship Type="http://schemas.openxmlformats.org/officeDocument/2006/relationships/notesSlide" Target="/ppt/notesSlides/notesSlide5.xml" Id="Rdf033def8c0243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d3925c35b4364" /><Relationship Type="http://schemas.openxmlformats.org/officeDocument/2006/relationships/image" Target="/ppt/media/image7.png" Id="R321995c8dab44a68" /><Relationship Type="http://schemas.openxmlformats.org/officeDocument/2006/relationships/image" Target="/ppt/media/image10.png" Id="R7ab82b55dc0e4c84" /><Relationship Type="http://schemas.openxmlformats.org/officeDocument/2006/relationships/image" Target="/ppt/media/image11.png" Id="R13d253fd3e284c05" /><Relationship Type="http://schemas.openxmlformats.org/officeDocument/2006/relationships/notesSlide" Target="/ppt/notesSlides/notesSlide6.xml" Id="R42cf8c11c03c49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3fdcb439345f0" /><Relationship Type="http://schemas.openxmlformats.org/officeDocument/2006/relationships/image" Target="/ppt/media/image12.png" Id="Rc48be690e8ae4401" /><Relationship Type="http://schemas.openxmlformats.org/officeDocument/2006/relationships/notesSlide" Target="/ppt/notesSlides/notesSlide7.xml" Id="R9890070877a344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8c0a19f31456a" /><Relationship Type="http://schemas.openxmlformats.org/officeDocument/2006/relationships/image" Target="/ppt/media/image.png" Id="Rc8c5bb58199c4b22" /><Relationship Type="http://schemas.openxmlformats.org/officeDocument/2006/relationships/image" Target="/ppt/media/image2.png" Id="R2c817b1ac3484b2b" /><Relationship Type="http://schemas.openxmlformats.org/officeDocument/2006/relationships/notesSlide" Target="/ppt/notesSlides/notesSlide8.xml" Id="R56a3984ee1a14b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fd118888e46d6" /><Relationship Type="http://schemas.openxmlformats.org/officeDocument/2006/relationships/image" Target="/ppt/media/image13.png" Id="Rdaee67e5db024093" /><Relationship Type="http://schemas.openxmlformats.org/officeDocument/2006/relationships/image" Target="/ppt/media/image6.png" Id="R7351b250722d433f" /><Relationship Type="http://schemas.openxmlformats.org/officeDocument/2006/relationships/image" Target="/ppt/media/image14.png" Id="R9ba30ed5d93d4865" /><Relationship Type="http://schemas.openxmlformats.org/officeDocument/2006/relationships/image" Target="/ppt/media/image15.png" Id="R1777b2f676354356" /><Relationship Type="http://schemas.openxmlformats.org/officeDocument/2006/relationships/notesSlide" Target="/ppt/notesSlides/notesSlide9.xml" Id="R238926f9f31f40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97cc4f6f64068" /><Relationship Type="http://schemas.openxmlformats.org/officeDocument/2006/relationships/image" Target="/ppt/media/image16.png" Id="R271676b0b73c475b" /><Relationship Type="http://schemas.openxmlformats.org/officeDocument/2006/relationships/notesSlide" Target="/ppt/notesSlides/notesSlide10.xml" Id="R37b1ec9e898b4e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d71eefbaa47fc" /><Relationship Type="http://schemas.openxmlformats.org/officeDocument/2006/relationships/notesSlide" Target="/ppt/notesSlides/notesSlide11.xml" Id="R04e9f05e7cfe4d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bfadce13f4e87" /><Relationship Type="http://schemas.openxmlformats.org/officeDocument/2006/relationships/notesSlide" Target="/ppt/notesSlides/notesSlide12.xml" Id="R9afe722090e145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640a4c06d4cef" /><Relationship Type="http://schemas.openxmlformats.org/officeDocument/2006/relationships/image" Target="/ppt/media/image17.png" Id="R7bb2556f72754ed0" /><Relationship Type="http://schemas.openxmlformats.org/officeDocument/2006/relationships/image" Target="/ppt/media/image4.png" Id="R7227f8aeaec844ff" /><Relationship Type="http://schemas.openxmlformats.org/officeDocument/2006/relationships/image" Target="/ppt/media/image18.png" Id="Rad227f40af974ada" /><Relationship Type="http://schemas.openxmlformats.org/officeDocument/2006/relationships/notesSlide" Target="/ppt/notesSlides/notesSlide13.xml" Id="R750055c2678647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585a00fd74271" /><Relationship Type="http://schemas.openxmlformats.org/officeDocument/2006/relationships/image" Target="/ppt/media/image.png" Id="R03812b263c3349b7" /><Relationship Type="http://schemas.openxmlformats.org/officeDocument/2006/relationships/image" Target="/ppt/media/image2.png" Id="R6499949cd8e64dec" /><Relationship Type="http://schemas.openxmlformats.org/officeDocument/2006/relationships/notesSlide" Target="/ppt/notesSlides/notesSlide14.xml" Id="R6d895a4736ac4e2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4aca2249b448f" /><Relationship Type="http://schemas.openxmlformats.org/officeDocument/2006/relationships/image" Target="/ppt/media/image19.png" Id="Rbbde6089ee7640c8" /><Relationship Type="http://schemas.openxmlformats.org/officeDocument/2006/relationships/notesSlide" Target="/ppt/notesSlides/notesSlide15.xml" Id="R7e6ae8fa1da1421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205e571cb4d86" /><Relationship Type="http://schemas.openxmlformats.org/officeDocument/2006/relationships/image" Target="/ppt/media/image20.png" Id="R4e94c2bbe24f4ea9" /><Relationship Type="http://schemas.openxmlformats.org/officeDocument/2006/relationships/image" Target="/ppt/media/image21.png" Id="Rd4c80079e025402a" /><Relationship Type="http://schemas.openxmlformats.org/officeDocument/2006/relationships/notesSlide" Target="/ppt/notesSlides/notesSlide16.xml" Id="Rcd2423588fd94ad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332a74f724bdb" /><Relationship Type="http://schemas.openxmlformats.org/officeDocument/2006/relationships/image" Target="/ppt/media/image22.png" Id="R136303d642504cc2" /><Relationship Type="http://schemas.openxmlformats.org/officeDocument/2006/relationships/image" Target="/ppt/media/image23.png" Id="Rfc3cbe4e0a88443b" /><Relationship Type="http://schemas.openxmlformats.org/officeDocument/2006/relationships/notesSlide" Target="/ppt/notesSlides/notesSlide17.xml" Id="R7ab8ff0eff94475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31a9e75684760" /><Relationship Type="http://schemas.openxmlformats.org/officeDocument/2006/relationships/notesSlide" Target="/ppt/notesSlides/notesSlide18.xml" Id="Ree7ecc3caecc4ca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9c4ee13df42cb" /><Relationship Type="http://schemas.openxmlformats.org/officeDocument/2006/relationships/image" Target="/ppt/media/image16.png" Id="R12d41b0a26184ee7" /><Relationship Type="http://schemas.openxmlformats.org/officeDocument/2006/relationships/notesSlide" Target="/ppt/notesSlides/notesSlide19.xml" Id="R96bddc5ccff0483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dcd75a5ed4051" /><Relationship Type="http://schemas.openxmlformats.org/officeDocument/2006/relationships/image" Target="/ppt/media/image24.png" Id="R7897689faad84d0d" /><Relationship Type="http://schemas.openxmlformats.org/officeDocument/2006/relationships/notesSlide" Target="/ppt/notesSlides/notesSlide20.xml" Id="Rc55859dc96f3467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d91cf943b4c34" /><Relationship Type="http://schemas.openxmlformats.org/officeDocument/2006/relationships/image" Target="/ppt/media/image7.png" Id="Rd1a30b8251204065" /><Relationship Type="http://schemas.openxmlformats.org/officeDocument/2006/relationships/image" Target="/ppt/media/image10.png" Id="R53514c50410a47d9" /><Relationship Type="http://schemas.openxmlformats.org/officeDocument/2006/relationships/image" Target="/ppt/media/image11.png" Id="Rce7f161d23dd4577" /><Relationship Type="http://schemas.openxmlformats.org/officeDocument/2006/relationships/notesSlide" Target="/ppt/notesSlides/notesSlide21.xml" Id="Rc4dfa06d5a1a443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cf72b3573445e" /><Relationship Type="http://schemas.openxmlformats.org/officeDocument/2006/relationships/image" Target="/ppt/media/image14.png" Id="R19eb59ed9fc244e4" /><Relationship Type="http://schemas.openxmlformats.org/officeDocument/2006/relationships/image" Target="/ppt/media/image15.png" Id="R68292c994ae049f3" /><Relationship Type="http://schemas.openxmlformats.org/officeDocument/2006/relationships/image" Target="/ppt/media/image25.png" Id="Re2db7167b98747b6" /><Relationship Type="http://schemas.openxmlformats.org/officeDocument/2006/relationships/image" Target="/ppt/media/image24.png" Id="R0528d3ff3ec441b6" /><Relationship Type="http://schemas.openxmlformats.org/officeDocument/2006/relationships/notesSlide" Target="/ppt/notesSlides/notesSlide22.xml" Id="R93d5059ab6cb435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acba5e9b74e4e" /><Relationship Type="http://schemas.openxmlformats.org/officeDocument/2006/relationships/image" Target="/ppt/media/image.png" Id="R053df2112d59462d" /><Relationship Type="http://schemas.openxmlformats.org/officeDocument/2006/relationships/image" Target="/ppt/media/image2.png" Id="R5c5b7fae425e43b2" /><Relationship Type="http://schemas.openxmlformats.org/officeDocument/2006/relationships/notesSlide" Target="/ppt/notesSlides/notesSlide23.xml" Id="Rb7420b008d0b49e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d6582b82a42c3" /><Relationship Type="http://schemas.openxmlformats.org/officeDocument/2006/relationships/image" Target="/ppt/media/image7.png" Id="R07852536ec9147ca" /><Relationship Type="http://schemas.openxmlformats.org/officeDocument/2006/relationships/image" Target="/ppt/media/image26.png" Id="R6a16cc59bb05419e" /><Relationship Type="http://schemas.openxmlformats.org/officeDocument/2006/relationships/image" Target="/ppt/media/image14.png" Id="R23ef7e9ec3f34e3f" /><Relationship Type="http://schemas.openxmlformats.org/officeDocument/2006/relationships/image" Target="/ppt/media/image27.png" Id="Ra3024d46a771468c" /><Relationship Type="http://schemas.openxmlformats.org/officeDocument/2006/relationships/notesSlide" Target="/ppt/notesSlides/notesSlide24.xml" Id="Rd1821941702a41f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abcced14b4414" /><Relationship Type="http://schemas.openxmlformats.org/officeDocument/2006/relationships/image" Target="/ppt/media/image5.png" Id="R5f56bfbbbeb04cc2" /><Relationship Type="http://schemas.openxmlformats.org/officeDocument/2006/relationships/notesSlide" Target="/ppt/notesSlides/notesSlide25.xml" Id="R7935b26bebc04a9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e05e9136341eb" /><Relationship Type="http://schemas.openxmlformats.org/officeDocument/2006/relationships/image" Target="/ppt/media/image5.png" Id="R6e50ff1606c84363" /><Relationship Type="http://schemas.openxmlformats.org/officeDocument/2006/relationships/notesSlide" Target="/ppt/notesSlides/notesSlide26.xml" Id="R48735c16d5ab487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3a79d0a83436a" /><Relationship Type="http://schemas.openxmlformats.org/officeDocument/2006/relationships/image" Target="/ppt/media/image27.png" Id="Rfd614951a29840df" /><Relationship Type="http://schemas.openxmlformats.org/officeDocument/2006/relationships/notesSlide" Target="/ppt/notesSlides/notesSlide27.xml" Id="R9b4e1cbcc75543e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ac63f366b49b0" /><Relationship Type="http://schemas.openxmlformats.org/officeDocument/2006/relationships/notesSlide" Target="/ppt/notesSlides/notesSlide28.xml" Id="Rcbd9ef2fed6a45e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f6b15f7804bf7" /><Relationship Type="http://schemas.openxmlformats.org/officeDocument/2006/relationships/image" Target="/ppt/media/image28.png" Id="R7fc34f9ac9ed4f73" /><Relationship Type="http://schemas.openxmlformats.org/officeDocument/2006/relationships/image" Target="/ppt/media/image23.png" Id="Rb70a392b660b49b3" /><Relationship Type="http://schemas.openxmlformats.org/officeDocument/2006/relationships/notesSlide" Target="/ppt/notesSlides/notesSlide29.xml" Id="Rfd795f7e4835408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32332d1234402" /><Relationship Type="http://schemas.openxmlformats.org/officeDocument/2006/relationships/image" Target="/ppt/media/image.png" Id="R842caddd0cf9402d" /><Relationship Type="http://schemas.openxmlformats.org/officeDocument/2006/relationships/image" Target="/ppt/media/image29.png" Id="R3a82973d73f347e5" /><Relationship Type="http://schemas.openxmlformats.org/officeDocument/2006/relationships/image" Target="/ppt/media/image30.png" Id="R991bf93038e84096" /><Relationship Type="http://schemas.openxmlformats.org/officeDocument/2006/relationships/image" Target="/ppt/media/image5.png" Id="Rd3571c0bed4f42d3" /><Relationship Type="http://schemas.openxmlformats.org/officeDocument/2006/relationships/notesSlide" Target="/ppt/notesSlides/notesSlide30.xml" Id="Rceeff19bd89b4d37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2155c28a082426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2803e62ae42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4960" y="685800"/>
            <a:ext cx="3291840" cy="312724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C5EDAED-E55E-4987-8EC5-055E7E8E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8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EU SAE DASHBOARD  ·  2026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2489EA0-7104-486C-8FE8-57566E03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382F2E8-D878-4847-9869-E789C0D1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Practical Guide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B055517-94D6-4A9F-BC44-CA44CF76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 EU_SAE_application_package</a:t>
            </a:r>
            <a:r>
              <a:rPr sz="2500" b="1" i="1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F86112-5FDD-4DE9-9B52-DF6D892E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Small Area Estimation of poverty and welfare indicators - from setup to outputs.</a:t>
            </a:r>
          </a:p>
        </p:txBody>
      </p:sp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2a538cc0340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5935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F0D4F19-4827-4609-B717-7C644F83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 the v5.0.3 package</a:t>
            </a:r>
          </a:p>
        </p:txBody>
      </p:sp>
      <p:pic>
        <p:nvPicPr>
          <p:cNvPr id="2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2fcd864384d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0873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C2B6A48-F63A-48BB-9669-71A89C9B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14216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Double-click Start_Dashboard.bat</a:t>
            </a:r>
          </a:p>
        </p:txBody>
      </p:sp>
      <p:pic>
        <p:nvPicPr>
          <p:cNvPr id="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9212eab1f48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58114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8709F205-EF34-43EE-84AB-285FE13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07992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 up Claude &amp; ChatGPT</a:t>
            </a:r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4B7F688B-D5CE-4E62-8307-1FB4A4CF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8630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spc="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Prepared by Nobuo Yoshida  ·  World Bank Group</a:t>
            </a:r>
          </a:p>
        </p:txBody>
      </p:sp>
    </p:spTree>
    <p:extLst>
      <p:ext uri="{BB962C8B-B14F-4D97-AF65-F5344CB8AC3E}">
        <p14:creationId xmlns:p14="http://schemas.microsoft.com/office/powerpoint/2010/main" val="1707306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6316A03-60C4-4059-B024-EB32A06A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DC53D1A-1D95-496E-99D5-08937041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9F00A3B-BBD7-4999-B22F-5F1BC2FB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3285DCB-4CD9-4519-B068-3A9445C6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BCE46B-974D-4D49-9BBF-4140C81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3B0092A-561B-4713-9C00-18EABCCF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B504E53-363A-40E9-BE1D-0E7C9D45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learn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CF7CDE6-1F19-4E78-9EC6-1BB381C5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parts, a clear path from zero to running analyses.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8B8C04A-384C-4B71-BC4D-EA5D01B1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AF350DC-AD47-4C11-8167-AA62C7DA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1DB9917-0986-41F1-AB6B-449BA228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07de537714f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9936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2E2532C-1C27-4094-9638-075D9387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and set up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7AEE548-C385-42AA-B1B2-CA77AB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Install R and download the EU SAE Dashboard from the GitHub Releases page (v5.0.3 release). One-time work.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CE02BD5-B856-4131-9BE5-74F2AFF0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F9AF7FD-1873-4EB3-B6D0-B835DF91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70CB173-7B3F-4FEB-8B2F-0FE8E7D6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ef2d07e074a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7304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7EDE18A-B809-4C27-A6E6-AC48F44C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Use the Shiny dashboard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1CE799C-C200-4BB2-997D-78FA3A4E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 data, map variables, benchmark if needed, and run the UFH / MFH / Comparison pipeline.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F1FF3E4F-8251-4B0C-B448-7161618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E278236-C266-47D5-8E6E-50368B6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69979A4-7E8E-43AD-BD05-33C0F9BC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cecfa268b4c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1CBBD55-5E24-4E9E-B57A-62E14198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an AI Assistant (optional)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0BDED7C-3587-4013-B174-B9A9B531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Sign up for a Claude or ChatGPT API key and paste it into the app.</a:t>
            </a:r>
          </a:p>
        </p:txBody>
      </p:sp>
    </p:spTree>
    <p:extLst>
      <p:ext uri="{BB962C8B-B14F-4D97-AF65-F5344CB8AC3E}">
        <p14:creationId xmlns:p14="http://schemas.microsoft.com/office/powerpoint/2010/main" val="519300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FE362FD-39DB-4A0E-8700-2B7CBD1F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A427ABC-7ADB-4253-A68E-489492CD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4737AD-55D6-46A6-873C-68C97121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B668CD-C353-4EC2-9933-88D2B0CE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CDA131-7DEB-4EC1-945C-F4656548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B3A1F8-A7A3-4447-A78F-3DC1173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9E1DFC-E750-45ED-940B-A8464BAC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is the EU SAE Dashboard?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7965967-F1E7-4DB7-8D90-BDC7CF0C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single Shiny application that guides you through Small Area Estimation of poverty rates.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FAEE36F-8D8F-4D6E-8199-487DE5B7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389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The single entry point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7E1AE7D-CD1C-4FAA-88E6-2E0766B6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0"/>
            <a:ext cx="43891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will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load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survey, auxiliary, and geometry data,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fit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Fay–Herriot models (UFH and MFH),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compare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results side-by-side with maps and tables, and optionally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AI-assisted interpretation.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837F6A1-20A9-4CEE-B94C-9CEDDB91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4389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429AEFA-B93D-49EB-88D3-42001AE8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5486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59BB261-96F9-4377-8512-004E159E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94760"/>
            <a:ext cx="413308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Start_Dashboard.bat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AC69347-66CA-4081-A182-44538769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35957E6-192E-456E-B0D1-29A6331A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9c4b212274e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192938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DC7D74-0CBA-4C18-8C7E-2E3D6252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19656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02E673E-0E1A-4CEF-BFC4-B81223C7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057400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Readiness diagnostics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0E39978-5574-492F-87B4-5BB2DFAA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61B1F83-BFED-4525-AECE-77E4334C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9747a7c5044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25328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C04764F-D1E7-4971-8E0D-CD30FB69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23160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UFH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D2D33A8A-BE8A-47FC-92FF-969D3595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60904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28C21722-EF0F-4D04-8B40-06C96801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04BFD5C-126B-45B5-A6D8-435864DF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82a13e52a4d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1363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F239A335-06D9-4B3A-9B2D-454EEEB2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026664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MFH</a:t>
            </a:r>
          </a:p>
        </p:txBody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EF38DB57-6C29-41E3-B3DF-F89C793E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64408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B1938FAB-2D15-4DF4-AC1D-17475A19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FCC8514E-B9C8-4E16-8866-1F7BC576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6c5d1a79844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739896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B5070431-103C-4911-A4D0-DEE32392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630168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Compare</a:t>
            </a:r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E09369F1-E315-40CB-ACB2-FB3768CE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67912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 vs MFH diagnostics</a:t>
            </a:r>
          </a:p>
        </p:txBody>
      </p:sp>
    </p:spTree>
    <p:extLst>
      <p:ext uri="{BB962C8B-B14F-4D97-AF65-F5344CB8AC3E}">
        <p14:creationId xmlns:p14="http://schemas.microsoft.com/office/powerpoint/2010/main" val="3178316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A37F9D-92B5-4E50-8401-35B7D519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0A61C1C-8A26-4FE2-999A-7531E251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14FA75-23C9-421E-AFBE-D2B0C612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938DE0-2EC1-4BA4-901A-5F313C0D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52172A-B2F6-468A-AEAA-9900C77B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4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0D2CA4B-A0D6-4FD8-8ACE-6812596B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 can estimate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0D5ECB1-0EF2-4835-9FDA-3516267C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indicator families, all from the same survey-plus-auxiliary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63F1991-B6BA-48BF-94B3-E8B680DE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303FA1B-736F-4744-BA7D-939EA7F0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CE8A5AC-C7DA-4AE9-B614-7D61DF13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94E9F48-B413-4E9E-BB4E-CD0BF2BC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Poverty rate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5c18f83ed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2E15DC9-C09C-46FC-9536-B5D11877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FGT(0) · headcount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FE7E9DB-37D1-40B4-A744-E115ADFE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Share of the population below the poverty line — the standard poverty rate.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ED9F0AC-A9D0-4120-8E89-03C77531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96D4CA7-287E-43B1-8B68-43ADB853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40AC215-976B-46A1-90D5-9C15066F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2344225-6600-4E54-8EFE-EF69483C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Gap &amp; severity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bb3c7463447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68A9878-B205-4292-8EB9-A2E011B3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FGT(1) and FGT(2)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861B72D4-6356-4C75-BDF7-55F5296C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Depth of poverty (average shortfall) and severity (more weight on the poorest).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25C1BDD4-E210-4DD3-8C70-F7893C75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B54112FE-1FBD-4422-B31D-8B02F95A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609BC81-53B8-43BB-90F9-F40A7C14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BAFAFAA2-20AD-4F5C-9DEC-F25E9840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Mean welfare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0550bd2eb4b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65EC1A0-2591-4BE4-AC9D-FB8DDA46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Income or consumption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19541D2C-40D2-4F85-BD87-89763E63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mean welfare, with an optional log scale and bias-corrected back-transform.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A62F621-5A62-4069-A296-8A05D74E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1256B9E-92D8-432E-99CA-19005EE8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93FAFE-5E2B-44D2-87F3-033E7D4A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96123B5-FD5D-48B7-96F2-0A40A41E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2EC003-C6A4-4796-8F75-611D6E4F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4D0714E-E727-4FFB-A0FF-993AD67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5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3BCC951-CE60-4B9C-98F7-86357B46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three-step pipeline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E33782-081F-4695-9CC0-8CCA1A8C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Select which steps to run in the sidebar of the app.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72CCC7-6A26-481F-BF50-8E809040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FCC2F64-B54E-4922-B5C7-251D8428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06E6D77-802C-4736-8E79-E205C902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97ACD8-947B-43FB-943D-C43CBCFE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UFH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4743d676640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F2007D5-CC6F-4D4E-A770-918B2A8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5143E5-2E6F-4939-B19A-6551DDB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Fits one model per year, independently. A solid baseline.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DAE8237-31E4-4EA2-BBD7-52A833ED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913195E-36E8-4B00-92CB-A6FCB197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7A56C09-CB3B-4182-AB5F-DF4D5164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C967DF3-F583-4042-A2B8-69D5BBF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MFH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2cc2678b347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16ACDA2-6FBD-49ED-AF07-F0248A18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EBD628-0F2E-45E8-9DF4-A2054B42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Jointly models years, borrowing strength across time.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E702CD59-1830-4950-AD18-F05B5AE3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503E2E17-049A-4DA6-B781-6926438D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B4B5C92-5712-4CE0-AF89-3F61762C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28E04FB-AD83-4B1C-B760-C64179CF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ecf8dc71a41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5CE08E7-7DDA-436A-93E9-835AA692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vs MFH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3FFCB2C9-A9E2-4DED-82EE-5E3085E4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Maps, scatter plots, and precision metrics to pick a model.</a:t>
            </a:r>
          </a:p>
        </p:txBody>
      </p:sp>
    </p:spTree>
    <p:extLst>
      <p:ext uri="{BB962C8B-B14F-4D97-AF65-F5344CB8AC3E}">
        <p14:creationId xmlns:p14="http://schemas.microsoft.com/office/powerpoint/2010/main" val="10019884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6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datasets to prepare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to select the three input files from any folder on your computer.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995c8dab44a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Household microdata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Household microdata with year, domain, PSU, weight, household size, welfare, poverty line, and optional strata or benchmark-level columns. Formats include .rds, .csv, .dta, and Excel.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b82b55dc0e4c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Subnational aggregates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Domain-level covariates for the same areas and years used in the analysis. Formats include .rds, .csv, .dta,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Shapefile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253fd3e284c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Geographic boundaries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Polygon boundaries for the target domains. Use ESRI .zip with valid .shp/.shx/.dbf, .rds, .gpkg, or GeoJSON. Domain IDs must match the survey and auxiliary files.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PATH2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DB58AA-35AF-4D6D-84F9-7B43DBB3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874435-3C7C-4041-9FF1-D1B8C14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DAD5A5-9084-4D80-9309-38F9E084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PATH1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7471AD-6B3C-44D8-A5A7-5F1864EA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BC46A48-D36C-4083-85B2-CD953128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8A39A4-E994-4E3D-9291-F4C2D8D9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7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3C88B7E-3F2A-4F5A-B7E1-7018717B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shortcut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26AF3-D03A-4520-9FEC-76C819E7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Set the essentials - the defaults handle the rest.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5602A60-B83A-4415-A6DC-8012E528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365760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89A8E59-CEB7-47B7-B262-4B6217BD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CC7ABC3-74BE-4F6A-B4FF-FBAFD91A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19072"/>
            <a:ext cx="3291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 UP  ·  ONE TIME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D58B242-EEE9-4FB4-A1E9-D6912A8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75104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Download the v5.0.3 package and prepare survey, auxiliary, and geometry files.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A806130-3527-459C-9F65-F57B059A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D62E143-7A51-4810-846A-B5A57C10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8935EAE-5E80-46B9-A22A-76B652D6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89864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v5.0.3 EU_SAE_application_package from GitHub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E1CD747-C9B4-4E41-8608-FBA27352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07EF5E-FD83-40F4-9DE7-B7D7F4FE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60173BD-0DE3-4108-A28E-A484AB29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726" y="3438144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F7B7081-07D9-42E7-A11C-76FCA7D4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166" y="345277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Double-click Start_Dashboard.bat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9FD7E51-F9A1-4B4B-9860-ADD637FB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DE19312-2B72-41D2-9699-937117F4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394E440-5229-4320-81DC-625A6365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" y="245059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latin typeface="Consolas"/>
                <a:ea typeface="Consolas"/>
                <a:cs typeface="Consolas"/>
              </a:rPr>
              <a:t>Browse data files from any folder</a:t>
            </a:r>
          </a:p>
        </p:txBody>
      </p:sp>
      <p:sp>
        <p:nvSpPr>
          <p:cNvPr id="101" name="Text 101">
            <a:extLst xmlns:a="http://schemas.openxmlformats.org/drawingml/2006/main">
              <a:ext uri="{FF2B5EF4-FFF2-40B4-BE49-F238E27FC236}">
                <a16:creationId xmlns:a16="http://schemas.microsoft.com/office/drawing/2014/main" id="{6C58BAC0-5459-45D9-9BC0-95316FE9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7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102" name="Text 102">
            <a:extLst xmlns:a="http://schemas.openxmlformats.org/drawingml/2006/main">
              <a:ext uri="{FF2B5EF4-FFF2-40B4-BE49-F238E27FC236}">
                <a16:creationId xmlns:a16="http://schemas.microsoft.com/office/drawing/2014/main" id="{F828A54E-EDB9-439A-92C1-18F27883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833160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F1E9BD7-B0DF-41DC-99AE-8D758964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674620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D5A509A-C2A1-4A5A-96AA-BDE3ABFC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402336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36E1A2E-95F7-4AB6-A880-FCF7206F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5434756-2715-4CD7-BAE8-6843FCC1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1907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 THE APP  ·  EVERY RUN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12D63FD-3F6B-4B38-AD6C-AA840E58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975104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the required settings; revisit advanced options only when diagnostics suggest it.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DA4B28E-4116-495B-8BFB-AC9D4AC7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C5FC15F-7A8A-426E-A580-34B7EE40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E93685C-6A3F-4A7C-9866-0A4D81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28600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analysis years and optional run label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762EF1B-79E0-48A3-87D9-575F6FA0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43230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e.g., 2012, 2013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4B24186-CD2F-4B24-92CF-E75A9E8F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3D696E2-90E5-4B54-ADCD-5616891D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9F03212-E09B-425D-AEF9-39E54B7E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5786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survey, auxiliary, and geometry files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E2661E3-A58F-4502-B27D-A48CC96F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72491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survey + auxiliary + geometry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A2707C9-5EB5-4149-A369-49194AD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0CFABB1-61F7-4DB0-BD28-6AC2D0D9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E1AD94D1-BAC4-402B-A770-16C4CD76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71216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Map key variables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E894925-B505-43C0-9B78-2071777A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017520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year, domain, weight, hhsize, welfare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BF4FAB5-ABAF-4CB8-9736-E2448BF8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CD350C1-8DD0-4AE8-B881-7F08CFF0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EBDA24D-E1EA-467F-9348-186E76FA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163824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Confirm PSU consistency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2D1C778E-C4FE-4567-BDD8-66E4B0AC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310128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select whether PSUs are consistent across years</a:t>
            </a:r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8B51FA3E-ACA9-4FEC-B74A-1CBF96A7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CAE"/>
          </a:solidFill>
          <a:ln xmlns:a="http://schemas.openxmlformats.org/drawingml/2006/main" w="12700">
            <a:solidFill>
              <a:srgbClr val="7A8CA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975E08E-B0A3-4383-BD69-B6981223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4EE53A1E-51E4-4DDD-B668-C46BD0D9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456432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C81C3617-FBC0-45BF-AF81-0D2EC247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602736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paste a Claude or ChatGPT key for diagnostics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EA8AF779-436C-4723-BC31-0BDCB3DD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6E1A239F-E1C1-4F52-8DAA-93FEEF99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2CBED9E1-2214-4398-A60F-9A5533D9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74904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Check Data Readiness</a:t>
            </a:r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2AE7A36D-8EED-4B39-ADF9-EC3CEDB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89534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runs readiness diagnostics - no modelling yet</a:t>
            </a:r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CF972FD1-D56C-4104-99E0-BF6F9980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A115C235-0BCB-4836-91ED-5055979E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4127F04B-16EB-4256-A149-5C9F2480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0416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Run Analysis</a:t>
            </a:r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9C04FC67-625B-4E74-8F1A-DA32C489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18795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UFH + MFH + Comparison run; outputs are archived by run label</a:t>
            </a:r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CCA6D316-A456-44F8-84FB-C3A9746D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16552"/>
            <a:ext cx="81381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6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be690e8ae44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71416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60" name="Text 57">
            <a:extLst xmlns:a="http://schemas.openxmlformats.org/drawingml/2006/main">
              <a:ext uri="{FF2B5EF4-FFF2-40B4-BE49-F238E27FC236}">
                <a16:creationId xmlns:a16="http://schemas.microsoft.com/office/drawing/2014/main" id="{1521F494-2021-4A54-A93F-153B084B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552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That's it.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Current outputs go to outputs/. A saved copy is archived under app_runs/&lt;timestamp&gt;_&lt;run_label&gt;/outputs.</a:t>
            </a:r>
          </a:p>
        </p:txBody>
      </p:sp>
    </p:spTree>
    <p:extLst>
      <p:ext uri="{BB962C8B-B14F-4D97-AF65-F5344CB8AC3E}">
        <p14:creationId xmlns:p14="http://schemas.microsoft.com/office/powerpoint/2010/main" val="696178688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8c5bb58199c4b2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17b1ac3484b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12D8E63-4DBB-42BA-A20E-331196A1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01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EBAFCE-DAD1-43F3-88DF-A20602EA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1C56F2C-F673-48AD-A92F-C987783C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Setting up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your computer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A165F8C-3CAD-47A7-94BB-93FD4D9E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Install R and download the EU SAE Dashboard.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C6D282A-9854-42C1-9CAA-EE4F750F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8 / 30</a:t>
            </a:r>
          </a:p>
        </p:txBody>
      </p:sp>
    </p:spTree>
    <p:extLst>
      <p:ext uri="{BB962C8B-B14F-4D97-AF65-F5344CB8AC3E}">
        <p14:creationId xmlns:p14="http://schemas.microsoft.com/office/powerpoint/2010/main" val="13410395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7EA98A-1E2B-44F4-96C3-7958D2E4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450EB66-FE99-455E-A116-2FBDEFFB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C2C2FD-385C-4C84-946C-6876DF5E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48C46F4-A236-43AC-9679-79D9D53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187FCD-AE53-40CE-A216-818B715F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01F5DDE-3CF9-4FBA-8193-36AF9BD8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9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9D7975F-BD02-4449-98C8-6D911802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Prerequisites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A23CEB-4BB0-4FE9-BFD3-104E600E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pieces of software plus the dashboard package.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D448D9-C06F-493F-AC34-24C38E1E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9BDBF90-3CBF-4645-9CCD-D709E5A6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e67e5db0240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2BD6BBF-046F-4C94-86C2-20C5CFC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356DFCD-D9D5-42B9-AA7A-33B9BE92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Statistical engine - R 4.2+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1A78E29-105F-491C-A82D-72738836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cran.r-project.org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820CEB6-9E28-4B5D-99FF-1B81234C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87C735F-5497-4FD7-8B6E-3DCB4A3D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1b250722d43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BED8B54-CF56-44A0-A1F0-191FC1B6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Dashboard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1D9D22F-7BDA-4AD8-A7BE-490561C6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itself - from GitHub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1741868-9BBD-44A1-95F0-47339D5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GitHub Releases page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FB69A7D-8FB5-43CB-B589-9241470E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571E4ED-8188-4F57-A9E1-F949605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30ed5d93d48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351BBD2-7E1E-4448-A1CC-1029F562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keys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064A4A8A-38A1-47D6-B4E8-E17588F5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 ·  Claude or ChatGPT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723EA3E-89F0-4AA3-9C21-7551A7A4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see Part 3 of this guide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60B965A7-110C-4251-924F-EB8596F6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512C6301-DA4D-4620-B6FF-105E7DC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7b2f6763543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FD021961-03FF-4C0F-B49E-ED02108A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That’s it!</a:t>
            </a:r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368BA602-64F8-4967-B361-0A373EDE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No RStudio needed  ·  EU_SAE_application_package</a:t>
            </a:r>
          </a:p>
        </p:txBody>
      </p:sp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11EAC43C-F389-4922-B87B-B1722BEB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double-click to launch</a:t>
            </a:r>
          </a:p>
        </p:txBody>
      </p:sp>
    </p:spTree>
    <p:extLst>
      <p:ext uri="{BB962C8B-B14F-4D97-AF65-F5344CB8AC3E}">
        <p14:creationId xmlns:p14="http://schemas.microsoft.com/office/powerpoint/2010/main" val="11503378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3136DB-8D7D-4707-908E-03B7C1B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DADFC2C-4ADB-4770-8512-FBD7FE41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4881E4-815D-42CB-B88F-7FF3F9FD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1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0CB16B3-9C03-4EEE-B9A5-840333C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336D0A7-7E4A-41A5-9FFA-47CA660A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EBC2C0-CC6F-4A28-9F9D-5120E5D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10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5739F8A-EDC4-4BCB-93FE-764FD4B0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D4F0A36-FEA4-4C99-828D-015D9A23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statistical engine that powers everything else.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8E0B86E-411D-4144-B33B-D7E2E003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CA2F328-462C-493F-9536-0B9C9086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BEA5908-B0FF-4D36-BA3F-BE4B5FFD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Go to cran.r-project.org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862D903-787A-4D7B-8B32-12FDBD68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080089-E471-43B1-AEF0-23692D9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9F5F3F7-CB49-463B-843F-F1A886F7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Download R for Windows, Mac, or Linux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E941B62-4040-45D4-8B8E-018C4A2A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3F92970-FAD2-4B0D-8D8F-EAA84A73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0E1D52B-4F62-473C-9C17-4F20185D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“base” and run the installer with default options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F2D041A-4E7E-447F-9DE4-29CA787D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B86EF5D-0F87-4F02-989D-2CD3F182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D7FF0D5-8587-4527-BBA6-CE03EDE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Accept all defaults — no configuration needed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1AD601E-301F-4D82-9133-09FD15D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828800"/>
            <a:ext cx="25146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676b0b73c47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14884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136ED33-4804-493E-A6DE-9A458F41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6040"/>
            <a:ext cx="1965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R first?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B2B67E1-435C-44AA-AA21-6305D894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19659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 is the statistical engine that powers the dashboard. The EU SAE Dashboard runs directly from R without needing RStudio.</a:t>
            </a:r>
          </a:p>
        </p:txBody>
      </p:sp>
    </p:spTree>
    <p:extLst>
      <p:ext uri="{BB962C8B-B14F-4D97-AF65-F5344CB8AC3E}">
        <p14:creationId xmlns:p14="http://schemas.microsoft.com/office/powerpoint/2010/main" val="3228429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AD79B3-E39E-4C9F-BC9B-51486AEF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D7290C7-B337-4BE6-8212-A01CEC88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FBB879-8ED2-49EE-8800-58699561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2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B985416-92BD-4E2A-B004-FB454CD5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92ACB96-F3C4-446C-8BE8-1C53D3A7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CE7D76-4EA7-400E-9EA4-EF70A33C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11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6B0B9F-C28C-4ED9-8742-D081C8BC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the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B36C8C-6F87-41C1-8ED2-7621E25E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Download v5.0.3 EU_SAE_application_package from GitHub.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637C0BF-56AA-4D96-9829-24A053E8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5D358F-7D5B-41D9-9678-886F039A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ECBB18-FE42-420B-BEA5-5D5C3493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github.com/Noboyoshida227/EU_SAE_application_package/releases/tag/v5.0.3 and download Source code (zip).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9754C05-130F-458D-86F9-3806521C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FA61A98-E87D-404A-8C56-D5889172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49C691C-9B6E-44E7-89C7-F687CBD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Windows: right-click the ZIP → Properties → check Unblock → OK, then Extract All.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9FB6EDE-57C9-47FB-BE95-7C768A98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256E7EE-3A86-4A0E-BF6B-8EA1867A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A802340-67AA-466D-BE2E-95122FF5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a convenient location. The extracted folder name may include the release tag.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4194F8-8391-46BD-B6CE-9C30BA8A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35DC729-FCE3-4560-802D-4D3894AB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A90A769-0424-4BEF-803F-1860AD68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the extracted folder that contains Start_Dashboard.bat, app.R, R/, scripts/, data/, outputs/, instructions/, and www/. You may rename it to EU_SAE_application_package if helpful.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885CBFB-1984-4073-9C63-B1D3D195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83080"/>
            <a:ext cx="27889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9525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96D8CB7-7A46-4608-BEA8-3C3ADACB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965960"/>
            <a:ext cx="246888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extracted package folder/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app.R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Start_Dashboard.bat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install_packages.R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R/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scripts/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data/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outputs/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instructions/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└── www/</a:t>
            </a:r>
          </a:p>
        </p:txBody>
      </p:sp>
    </p:spTree>
    <p:extLst>
      <p:ext uri="{BB962C8B-B14F-4D97-AF65-F5344CB8AC3E}">
        <p14:creationId xmlns:p14="http://schemas.microsoft.com/office/powerpoint/2010/main" val="3015335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BD22DB-F4E2-406A-A045-B4849B46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96CF35-C978-4FC4-A8C0-D8D027BD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D72975-06B8-456D-B49F-C7EC50CB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3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63BFBE2-34E6-494D-B40A-0FB4327C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5F36E2-8EBD-4C09-855C-37E3A78C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C106723-7679-4FDE-BCEF-0167079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12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D6FB098-1239-4D03-A9D2-885DD6E5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Automatic package installation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0EC62-02C5-4A4C-8A49-37C5797D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 first launch, Start_Dashboard.bat automatically installs all required packages.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8AEBCA3-F1E9-4D0A-ABCB-86D8C18E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244842D-07BA-4B68-9334-2A5B4F0B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E91B342-40EC-41AE-A82C-B4B0E8D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Runs automatically on first launch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8BD5CC-30F4-4773-A803-69D63CCC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2316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script checks what is already installed and only downloads what is missing.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4EEE255-5634-4BCD-AAF5-5C712787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AEA9F45-4ECA-4CDB-BA4A-5A5C9638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D5CEAC7-6B41-46C1-9643-FCB53681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Shiny UI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43E18A6-8F54-4D3D-9AB2-9316F38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shiny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D1757E0-A588-4B6A-9EBC-98307710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E6B6FC8-0F0E-4883-8035-714263DA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A0AB043-19D6-410D-B09F-13A8640B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SAE models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F7904BA-EDD2-4C37-B670-D4FB74B9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emdi, sae, msae, survey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A1323A2-BD70-460A-9CEC-9A5B9FA4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0700F29-7882-4D6E-A2A6-055933F7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8E4B2B5-27E9-4F54-B431-6B336D0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wrangling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DAC5A23-3047-44A7-9149-55A2433F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dplyr, tidyr, data.table, readxl, haven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16CF7D0-B241-4C4A-A195-0760C139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16325B8-771B-4CB8-B354-BCBA788A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DF37221-4177-45C6-85EF-9FAA934C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Visualization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A58E99D-7A69-4EB4-B7BE-484FA384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ggplot2, sf, viridis, patchwork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9A85613-F5C8-41E0-83E9-48AB9A7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B5926E2-716A-423D-818D-722A0727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3A5783C-D912-49DD-9960-D2746F4E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Documents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805F051-D075-4C2C-9FB3-898BEBB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rmarkdown, knitr, gt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2768806-AA37-4A51-B760-FEFEC0CF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F561D1A-F56C-4674-B8C6-E420DC95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87E25F2-FD7A-423A-89FC-71105916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(optional)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B0BC33A4-ADBB-41F0-ABC3-860A18C0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httr, jsonlite, base64enc</a:t>
            </a:r>
          </a:p>
        </p:txBody>
      </p:sp>
    </p:spTree>
    <p:extLst>
      <p:ext uri="{BB962C8B-B14F-4D97-AF65-F5344CB8AC3E}">
        <p14:creationId xmlns:p14="http://schemas.microsoft.com/office/powerpoint/2010/main" val="7379052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3ECC74-7841-4733-B6BE-FA8C0F8D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0939651-E103-4C42-80B1-772EA3AE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3A0BED-3678-49ED-9CE4-742E4166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4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15535A-36CC-4EE7-9AE0-BBF3777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DE961AC-AAB9-4B33-B229-C5C935F1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9B2D581-95ED-4C0B-813C-E6CAA4E1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13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DF2588-134E-450D-B2FE-93CE2588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Launch the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6C30989-EEA0-4EAE-B468-AA5EE355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From the extracted package folder, double-click the Windows launcher or run the shell script. Your browser opens the first available local URL, usually http://127.0.0.1:7777.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4EB1DAA-16A3-41C9-A660-A998328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136B662-E487-4DC9-9601-A500A4BE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97AB321-C99F-46FE-BC71-6FF38C56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Start_Dashboard.bat (Windows) / bash Start_Dashboard.sh (macOS/Linux)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8CB0C94-884B-408A-B0C6-062186D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A7A4757-E774-47C3-8529-080E53AD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2556f72754e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20F2953-5D60-477A-AA85-D4559644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Dashboard opens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A721920-F814-47B5-81CA-82F5FAD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browser window shows the cover page.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479973E-E121-48E0-973F-5AEF47A9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6103C69-F5B6-4681-B757-03CB2C50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7f8aeaec844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FC3257F-EC48-4E70-B42C-8DAFFDED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Get Started</a:t>
            </a:r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1FFBD53-2D15-46EB-A2B5-867E2F7A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land on the main workspace.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5521568-8390-4D5C-939B-C75B0550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52D6CBA0-30B2-4CCC-8814-12AEEEDA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27f40af974a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A564DD73-BDFD-4F6A-9038-1D3AA4A2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Built-in guide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946FA38-171A-4FA2-8E04-63B2543B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Tooltips and a help tab walk you through.</a:t>
            </a:r>
          </a:p>
        </p:txBody>
      </p:sp>
    </p:spTree>
    <p:extLst>
      <p:ext uri="{BB962C8B-B14F-4D97-AF65-F5344CB8AC3E}">
        <p14:creationId xmlns:p14="http://schemas.microsoft.com/office/powerpoint/2010/main" val="140745060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3812b263c3349b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9949cd8e64d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BC59E73-14FC-4B2A-BDFD-088765F5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02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C51D98-AE59-4EB7-9D80-8FAD9754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D81BDB0-0100-4DAC-A041-2BE377C8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Using the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Shiny dashboard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E5A046D-D445-4CD2-9911-15335EF2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Load data, choose options, run the three pipeline steps.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5C4074-3F57-4ACA-AEDC-8308D69F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14 / 30</a:t>
            </a:r>
          </a:p>
        </p:txBody>
      </p:sp>
    </p:spTree>
    <p:extLst>
      <p:ext uri="{BB962C8B-B14F-4D97-AF65-F5344CB8AC3E}">
        <p14:creationId xmlns:p14="http://schemas.microsoft.com/office/powerpoint/2010/main" val="11044033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15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Start here — the cover page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first screen you see after launching the app.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ABB49EC-2E4B-4E41-BE83-5861BE45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72AA6CD-2144-4DFE-9AA6-81FED4E1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12700">
            <a:solidFill>
              <a:srgbClr val="EEF1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A23F856-57CC-45B5-88C0-B11A51CF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700">
            <a:solidFill>
              <a:srgbClr val="E74C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C47222D-89E1-4C99-A44F-C4780B85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40F"/>
          </a:solidFill>
          <a:ln xmlns:a="http://schemas.openxmlformats.org/drawingml/2006/main" w="12700">
            <a:solidFill>
              <a:srgbClr val="F1C40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3E0A90-FA6F-457A-93D6-A1192772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C71"/>
          </a:solidFill>
          <a:ln xmlns:a="http://schemas.openxmlformats.org/drawingml/2006/main" w="12700">
            <a:solidFill>
              <a:srgbClr val="2ECC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1DC4015-1014-4D05-A7AF-44D54B5B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47088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A8CAE"/>
                </a:solidFill>
                <a:latin typeface="Consolas"/>
                <a:ea typeface="Consolas"/>
                <a:cs typeface="Consolas"/>
              </a:rPr>
              <a:t>localhost:####</a:t>
            </a:r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e6089ee7640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23317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900C281-2316-4EBB-8681-5BA9674E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31720"/>
            <a:ext cx="3840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Package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43BE7C3-D251-47ED-9543-14CBA910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9748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Small Area Estimation of poverty rates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471DD7-F05F-4C9B-A0BC-FA2460C9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F118CFD-A8B6-40D7-9206-41EFCB9A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 Started  →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29FE67E-4F91-4BA1-A480-F50E854F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9476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Click to reveal the main workspace.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FE301E1-A7E4-4D78-AF50-A71903D8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82880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find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8DDF1AB-DE6C-4DEF-8980-440B0867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39572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2860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Sidebar — choose which steps to run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519313F-0031-48ED-BD9B-CAA0029F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80720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2C42185-2D48-4947-817E-BD0F08AC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6974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Data Readiness, then Run Analysis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15F1493-24A4-43E0-BABC-0CE658A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21868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1FE12AD-7121-4851-A775-2823D734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10896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Preflight tab — input validation at a glance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2C280DA-9F25-4C8A-A307-AF614764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63016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B81064D-2E09-4CC1-86DC-F673F4DA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52044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Data Readiness - diagnostic checks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0F99BAC-A7A9-45EF-A00C-0EE0838E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04164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FE99F25-6EAC-41AF-8BB0-603AB325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9319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Status tab - progress, run folder, and output locations</a:t>
            </a:r>
          </a:p>
        </p:txBody>
      </p:sp>
    </p:spTree>
    <p:extLst>
      <p:ext uri="{BB962C8B-B14F-4D97-AF65-F5344CB8AC3E}">
        <p14:creationId xmlns:p14="http://schemas.microsoft.com/office/powerpoint/2010/main" val="917405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0D31447-3DE9-4BA0-8A44-E8314CAA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486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FBBF01-0994-4027-8B81-A7CB1233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65760"/>
            <a:ext cx="4572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829AAB-75F5-4F9B-8051-9308DAA7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Two-stage launch — check, then run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64B3C99-7E93-40FB-99DC-35FEBB63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Review your data before the pipeline starts. Catch typos, missing years, and mapping issues early.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34B7412-B0B5-4075-BABF-250B0AB8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27632"/>
            <a:ext cx="365760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5B275B1-CAE3-4C5F-8FAC-28C166FB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73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In the sidebar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8160E83-E19C-41F2-AE7B-21A8DE89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84832"/>
            <a:ext cx="246888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BE4635A-48D1-4543-8A82-CDCCB9A2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99664B4-DF5E-48B3-8EA5-F5A832BD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14197F1-1E02-4E4E-9E06-7A8F1888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4D6FA0"/>
          </a:solidFill>
          <a:ln xmlns:a="http://schemas.openxmlformats.org/drawingml/2006/main" w="12700">
            <a:solidFill>
              <a:srgbClr val="4D6F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D5325C0-B705-4F7A-ACBF-D4C0A090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B79C17-8BBF-4074-8F46-03C058FA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36392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1 — review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72685F-A5CE-4285-B73F-9B49E72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2 — run the pipeline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7158755-E9BC-4503-BFFE-3867AC1E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F4F6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F7EB2FF-580F-48E0-B666-89BF14C8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Click 1, review, then click 2.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42415BC-7098-4BD2-89AA-FDCB467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87752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8FF2E12-3B41-40BB-8143-E3DEAF69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F5FE68-66B2-4E0D-A834-D2DED40B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79BC0EF-1FC8-4DBD-B4B0-4EFFE0E2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79222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4c2bbe24f4e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1892808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547AAB8-06F8-4258-A94F-AA8AE92E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792224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7E39A45-2A56-4F9D-BC2A-4A8C3340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157984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Loads inputs, validates variables, checks requested years and mappings, and populates the Preflight and Data Readiness tabs - no modelling yet.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65AFB442-0472-4855-8F0E-DE2A7D56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301EE81A-CA5C-49D5-B35D-5827815F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A0A26D1-AE4E-4574-90B0-4E69496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09981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80079e02540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3200400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8DD1857C-522B-4BEC-9A50-7E7D514A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099816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42A7B8D-F5CC-4E95-B90A-21FF72FD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465576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Unlocks only after step 1. Runs the selected steps, writes current files to outputs/, and saves an archived copy in app_runs/&lt;timestamp&gt;_&lt;run_label&gt;/outputs.</a:t>
            </a:r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FFD6ADBA-7486-4941-8820-AEF88F4B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24528"/>
            <a:ext cx="81381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6DA91574-9F76-470F-96F8-8E6A642C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224528"/>
            <a:ext cx="78089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Why two stages?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You see what the app sees before committing to a long run - catch typos, missing domains, missing household size, or unexpected years early.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51BD9D2C-0A00-4738-900F-899EED75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92AFC506-73BC-467B-84E2-B3575E44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36592"/>
            <a:ext cx="960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16 / 30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89077BFE-3525-485E-815B-06CA86A5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97196"/>
            <a:ext cx="914400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9863957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09DFAB-3A8C-4AAC-ADC8-CC46597E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8755F3B-21C9-45F3-9376-C13ADEB1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39F7C99-0248-4FBA-8230-96CA2F02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09C531-2D1F-490C-8F93-B12C3974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B930C5C-2231-4CA7-A41B-D5BDE8EB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53446CB-ADAA-4AA1-AFA1-13B5FB1F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17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4AA15F1-CBF8-439E-8D5F-059A3E2C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Preflight tab — inputs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67420A6-0027-4CA6-B8C1-91397930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Shown after Check Data Readiness. Confirms the app understood your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7664411-E751-401B-9FA0-9A4588D6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303d6425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1938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1A0C1AC-9170-4F09-8B29-6F1E58E5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4708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Analysis years parsed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9C06A0F-F869-4B1B-9C88-D5390EAE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2012, 2013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8C0D4B9-B4DC-4390-98F7-E82FE556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303d6425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24871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656E2D7-20BA-4FFC-816C-20ADC612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Variable mapping complete</a:t>
            </a:r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01DCED1-595F-4CB8-8A01-72A6E44E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year, domain, psu, weight, hhsize, welfare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C53EBE-9A0D-443E-8894-4A2BEE9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303d6425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03580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CF0637C1-A11C-4091-9A86-5A96A9E1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4436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Poverty line set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58B4CFF7-0493-45BB-BA1D-39F86D31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5468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type = relative, value = 0.60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DA14284F-D3C3-4168-AC9C-AE5C1305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303d6425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5844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5E9ACA2C-9E75-4249-B651-6BEEA0E2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9300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Survey file loaded</a:t>
            </a:r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BDF3D1EB-1920-4000-8185-FA5E661E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0332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selected survey file (.rds/.csv/.dta/Excel)</a:t>
            </a:r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D08DBAE5-1C0D-472E-BF52-4B90A13D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cbe4e0a8844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41330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6644C196-0E3D-468B-A141-782E7DB2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4164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file missing</a:t>
            </a: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5D09CD26-1B44-48B2-BD9F-152FB52B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choose ESRI .zip (valid .shp/.shx/.dbf), .rds, .gpkg, or GeoJSON</a:t>
            </a:r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D330164F-00C7-4099-B6D6-7C01E9F4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EC2C2B84-A62F-4B4E-8B42-EBF6A93B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to look for</a:t>
            </a:r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D20D1549-7864-4AC0-85FF-3B527F3E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41448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4"/>
          </a:solidFill>
          <a:ln xmlns:a="http://schemas.openxmlformats.org/drawingml/2006/main" w="12700">
            <a:solidFill>
              <a:srgbClr val="2E7D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B7022694-5218-44F0-AA13-C02D47EC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331720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parsed correctly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E128B035-3244-486C-A5B9-5CB652A2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6207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2700">
            <a:solidFill>
              <a:srgbClr val="E6A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824D904C-7789-46D3-8990-B8DAEA1B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752344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Amber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 fallback is being used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4DE96001-6889-40C2-8B2F-B46E2FCA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82696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F1170784-D5AE-44B6-B318-258B6101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172968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blocking error — fix and re-run</a:t>
            </a:r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1A2A80B8-6468-49F7-B67C-5E5478C7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11880"/>
            <a:ext cx="1874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Preflight is cheap — re-running it is a safe way to iterate on variable mappings.</a:t>
            </a:r>
          </a:p>
        </p:txBody>
      </p:sp>
    </p:spTree>
    <p:extLst>
      <p:ext uri="{BB962C8B-B14F-4D97-AF65-F5344CB8AC3E}">
        <p14:creationId xmlns:p14="http://schemas.microsoft.com/office/powerpoint/2010/main" val="21382907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933539-FD75-40EA-A6B5-481C235A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C54616-031B-412A-93A6-FD4CC9BB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34FF79-BF50-4E7C-AE8F-8CCD192E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89AAF4-266C-4753-8789-AC3D685A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162475-1E2C-4390-A5EA-1DFDCE29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2EC8ED-7009-4502-AAA0-4FEA6DBC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18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571382-CF83-43B0-A85C-A46DEE85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 - diagnostics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7876416-0525-4B60-9B9D-6C6DBFEB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Populated when you click Check Data Readiness. Review warnings and errors before Run Analysis.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FC6B19D-6E90-43BA-8F77-F33754C9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6B7600A-36BD-465C-9D78-7BC3E2E7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6DBEF2D-CB07-41F6-BD90-B38F4E83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F0441F5-7133-41BA-92F3-24E51C73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Year variable present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C48E085-E7B9-4A07-94C5-C747ACFD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datasets include a year column.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40E331B-2752-4AC7-80D6-C2C0C690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ED0097C-4314-4BB4-A222-EEBA4A6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F280863-488A-460C-9637-33F627FC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0E75924-6A85-4F4A-B7C5-31FBBC5C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Requested years available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CB9F4C6-06E4-4038-A1CC-10EC986B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Survey and auxiliary data include the two requested years.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973F3E3-E31D-4514-84FD-1F286AE5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C940F5C-9D3D-4624-BCCF-74DE409D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231170E-F148-4BC8-BC24-765D6712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EAE44B9-A528-49B3-9781-130A4F4A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Covariate summary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339D676-2A30-4C73-8669-73E542BE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Means, SEs, correlation for selected years.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5DE3103-005A-4147-B845-86222CBD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AADAAE8-9FCE-4235-9030-2385425C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7C32D14-6685-4A09-8E79-63682DC7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0D3FDC2-2785-476C-93FB-48E1AEA3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Domain/key alignment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5E887FA-B723-4DA0-A597-6F241F5F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Checks domain/year keys and geometry domains across all files.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BE46A50-81EF-47D2-B005-36120A34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77A5AFB-3383-4827-A0F9-B0987F38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D9DDBB2-68C9-4C5B-9ED3-EC86F3D0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E3BD029-2F21-4713-9E62-CE633D63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Missing poverty rates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8B16E65-83A3-438A-8917-79F85557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Flags empty domain-year cells.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7201D11-AB1D-4305-99C3-EEACC0BA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5FED4191-0056-4539-A128-D1075E62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1BB6AA1-9C90-4C26-8F7D-B844060B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780BEF0-4A77-4486-AEA6-0DF1E0B8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National headcount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773123C-CCC8-48AF-B53D-9C9935C0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national poverty for selected years.</a:t>
            </a:r>
          </a:p>
        </p:txBody>
      </p:sp>
    </p:spTree>
    <p:extLst>
      <p:ext uri="{BB962C8B-B14F-4D97-AF65-F5344CB8AC3E}">
        <p14:creationId xmlns:p14="http://schemas.microsoft.com/office/powerpoint/2010/main" val="18869310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EF765A-7DE3-448A-B44E-EB47FA23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8D1EEC8-C22F-4630-AE17-BECD07C1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BD8D64-E90E-4267-9EA5-BAC139EF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  ·  STEP 1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71EA83C-E9DE-4B05-9484-D499EB51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F4E492-6445-4975-A1A8-212FDA01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19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7D531E-AAC4-43F9-A698-4234A03F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B174BBA-2212-4935-8353-63FC888B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few controls decide how the univariate model is fit.</a:t>
            </a:r>
          </a:p>
        </p:txBody>
      </p:sp>
      <p:graphicFrame>
        <p:nvGraphicFramePr>
          <p:cNvPr id="24" name="Table 0"/>
          <p:cNvGraphicFramePr/>
          <p:nvPr/>
        </p:nvGraphicFramePr>
        <p:xfrm>
          <a:off xmlns:a="http://schemas.openxmlformats.org/drawingml/2006/main" x="502920" y="1828800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3108960"/>
                <a:gridCol w="320040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Transformation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arcsin (default) / no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Keeps estimates between 0 and 1; stabilizes variance.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Bias correction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bc (default) / none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Adjusts for non-linearity of the arcsin transform.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BIC (default) / AIC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stepwise covariate selection.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Key covariates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(optional)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Force specific covariates into the model.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A80091E-DEF8-4996-9900-A56A02E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8056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2D5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41b0a26184e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5371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729A578-579C-47CC-A489-A42F3E26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48056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Rule of thumb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Start with defaults. Change them only if diagnostics suggest a problem.</a:t>
            </a:r>
          </a:p>
        </p:txBody>
      </p:sp>
    </p:spTree>
    <p:extLst>
      <p:ext uri="{BB962C8B-B14F-4D97-AF65-F5344CB8AC3E}">
        <p14:creationId xmlns:p14="http://schemas.microsoft.com/office/powerpoint/2010/main" val="19877901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3611ADC-A618-4A8F-B949-08E2329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0A63739-4277-4231-85C5-3CC3591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FD1823-D2AD-4CCE-9E8C-A763E98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  ·  STEP 2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57B515D-5957-4FC8-85E7-D3C3762E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8E5CAB8-9E97-4E4B-AFFD-F2268331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20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B3D017E-F52A-41E8-B9E6-BB74E8C2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615743A-7A42-4725-8117-75BA24F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Multivariate models borrow strength across years; the selected MFH model drives user-facing outputs.</a:t>
            </a:r>
          </a:p>
        </p:txBody>
      </p:sp>
      <p:graphicFrame>
        <p:nvGraphicFramePr>
          <p:cNvPr id="24" name="Table 0"/>
          <p:cNvGraphicFramePr/>
          <p:nvPr/>
        </p:nvGraphicFramePr>
        <p:xfrm>
          <a:off xmlns:a="http://schemas.openxmlformats.org/drawingml/2006/main" x="502920" y="1828800"/>
          <a:ext xmlns:a="http://schemas.openxmlformats.org/drawingml/2006/main" cx="813816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3108960"/>
                <a:gridCol w="3200400"/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AIC (default) / BIC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covariate selection.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How sampling variances are smoothed.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Covariance option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auto-matched to variance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How cross-year covariance is set.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Selected MFH model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MFH2 / MFH1 / MFH3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Which MFH model appears in the export and report.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Try MFH3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checkbox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Heteroskedastic AR(1); slower but more flexible.</a:t>
                      </a:r>
                    </a:p>
                  </a:txBody>
                  <a:tcPr marL="91440" marR="91440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83891BB-E8BF-4BE4-9F8E-02171D8D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2628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7689faad84d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9943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1528353-5543-4CD3-ABBE-95E48E18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52628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MFH2 is the default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— homoskedastic AR(1), most parsimonious and usually most reliable.</a:t>
            </a:r>
          </a:p>
        </p:txBody>
      </p:sp>
    </p:spTree>
    <p:extLst>
      <p:ext uri="{BB962C8B-B14F-4D97-AF65-F5344CB8AC3E}">
        <p14:creationId xmlns:p14="http://schemas.microsoft.com/office/powerpoint/2010/main" val="5614569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5BBE8F0-7181-441F-8B13-D4115D0B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E6D361D-58B6-4CB5-B759-6B01E18E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C99825-117C-4F3D-83B4-78600CA7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7CA679-259D-47C0-A8F2-5CF42777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8F6485B-9CEF-47E2-9C29-D4C903F8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81454CF-B64F-4B0E-B34E-6881C80A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21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6B99C6A-3B12-4E2B-B95E-3934DE63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Benchmarking option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EB957F-60D1-4728-96DF-B4723BDB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After modeling, benchmarking adjusts UFH and MFH estimates so benchmark groups match target rates.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F43515E-E25D-4B4F-9783-4DB2B88B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C9FB522-C813-4EBE-A736-797A6B46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882A850-FAA8-4C74-9A22-9A1EFCF1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30b82512040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C819348-E72F-4DDB-9092-F8126914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Apply benchmarking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9CF037B-1ED4-4EC0-AF44-C7B16441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Apply benchmarking. The target database and benchmark-level boxes appear only when this is checked.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67A90FA-0307-48D4-8714-4BAE370C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95E42C6-9700-4E01-916E-0C43AF95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9E67AE2-E2C3-432C-87E0-55CBB275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14c50410a47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C321CB95-2108-44E7-874B-6832025A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28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Target Database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87DEC79-7D45-49D3-8433-8FBBB6A7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targets by year and group. If selected by mistake, click Clear selected file. If omitted, targets come from survey direct estimates.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E638235-375E-471F-8190-7FF6774E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719AA98D-F679-4648-AFF7-694B01B9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99C10A2-A81B-4B2D-8F5E-E81F4BF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f161d23dd45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6B2DAC72-6E19-4902-A97D-A475C3A4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level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C37B7FB-E60E-4D4F-827E-34B1E035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Leave blank for national benchmarking. Map a column such as region, NUTS2, or voivodeship for grouped benchmarking. Search the dropdown or type the column name.</a:t>
            </a:r>
          </a:p>
        </p:txBody>
      </p:sp>
    </p:spTree>
    <p:extLst>
      <p:ext uri="{BB962C8B-B14F-4D97-AF65-F5344CB8AC3E}">
        <p14:creationId xmlns:p14="http://schemas.microsoft.com/office/powerpoint/2010/main" val="38631641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B8A72A-969A-4BEC-8A0B-0612CD29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EA24534-2C8D-43F6-B5F5-5085EAD3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E37991-538E-46E9-B78A-82E10B3F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BD3B29F-DEDA-428F-A721-B5D72F2A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1528269-7A65-4B2D-8155-369AE832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52FFFF-9B4E-420F-BABE-DC61C6D8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22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021AAF1-151B-40F7-A4F9-597EC230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Where results live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9A73CF4-5382-4995-B536-2016D968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Current outputs are in outputs/. Each run also has an archived copy under app_runs/.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6BF8A42-7E77-43F3-A7A6-ECE4A7BD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8428EF1-2A44-411F-8808-8707AD1F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b59ed9fc244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96C980B-2679-4AFC-8ADA-8CECCB15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outputs/final_report.html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4CDD909-1600-4122-B6A2-D8357D18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Consolidated HTML report - includes Section 2 Run Setup, maps, scatter plots, diagnostics, and output locations.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7E76D27-AFBB-4458-AA95-19390165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E299E75-068D-4EB9-8F7B-E89B20AA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92c994ae049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D7D6CA3-9D70-401F-B605-99CC3827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outputs/figures/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078FD86-A6DB-4098-8684-6F5C1FD3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Diagnostic and map plots (.png) — reusable in your own reports.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1F07D4C-510F-4794-A109-20C7EB76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4D142FF-FE10-40FB-99DB-6DFFB8CA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b7167b98747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D2008083-8A22-44DA-93F7-3A70CD5B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outputs/data/pov_comparison_detailed.xlsx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73765296-724F-40D4-8F27-CA8AF3CD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Detailed comparison of Direct, FH, and MFH estimates. Benchmark columns appear only when benchmarking is selected.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2D2A84E8-0468-4A0D-A87F-AB348834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F0BDAC8B-20BE-4A16-BE9D-1EA609E1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b59ed9fc244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70A94358-99E9-4702-9145-81E25FEB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3B1A0894-2FDF-43E1-B86D-1D3AE247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Estimate workbooks, fitted model objects, and run_metadata.rds.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0872B8BA-6BF3-45D6-8926-F4ED017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6F65EA1C-D3DE-4681-A433-71CFAA44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b59ed9fc244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92BC5667-E020-48DA-8251-3E91E3A0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outputs/tables/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2199F46B-7597-475B-B90B-85181A4B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CSV summaries - Shapiro tests, significance results, readiness checks, and diagnostics.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10AD6E75-2F45-4E4A-91AD-631F1BE8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F1EA5501-A9D6-4BAA-A580-DB7B7F56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92c994ae049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211DA557-31CC-4254-A585-72F02E37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app_runs/&lt;timestamp&gt;_&lt;run_label&gt;/app_config.yml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946406F1-82D9-40D8-B930-E753FFF5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Saved run configuration - years, mappings, benchmarking settings, and output archive location.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F078EB0E-DC11-4568-800D-48880DBC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8d3ff3ec441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6227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C5614B53-7601-45F1-A2EE-655560E5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38912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Note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Section 2 Run Setup is the audit trail: run ID/label, output folders, benchmark source/level/target, and selected MFH model.</a:t>
            </a:r>
          </a:p>
        </p:txBody>
      </p:sp>
    </p:spTree>
    <p:extLst>
      <p:ext uri="{BB962C8B-B14F-4D97-AF65-F5344CB8AC3E}">
        <p14:creationId xmlns:p14="http://schemas.microsoft.com/office/powerpoint/2010/main" val="2090383252"/>
      </p:ext>
    </p:extLst>
  </p:cSld>
</p:sld>
</file>

<file path=ppt/slides/slide2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53df2112d59462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b7fae425e43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EF2968C-81E9-46C0-B756-A66E0440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03  ·  OPTIONAL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C25F47D-3B0B-45C2-BCB6-AF70B959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CBCF23E-413E-4766-B4A3-FD27ED67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Assistant —</a:t>
            </a:r>
          </a:p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 &amp; ChatGPT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8E289B5-10F9-4D9F-B2DB-3DA9E8C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Get API keys, paste them in, and let the app interpret your diagnostics.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83F6059-E75E-426D-AC87-AFFB0EB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23 / 30</a:t>
            </a:r>
          </a:p>
        </p:txBody>
      </p:sp>
    </p:spTree>
    <p:extLst>
      <p:ext uri="{BB962C8B-B14F-4D97-AF65-F5344CB8AC3E}">
        <p14:creationId xmlns:p14="http://schemas.microsoft.com/office/powerpoint/2010/main" val="109268974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6C96C7-197A-49D1-9C61-3D7E550A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5AF9807-CBAB-4FAD-B266-A24DD0C3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72DB30-DC19-48A5-BDB0-8806F5F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9AD3C9D-1FBC-4583-BAD7-197F805E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5E11CE4-8BE6-4C5F-9B85-22E575C1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D5718A-1437-4459-A05D-B790414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24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7335C38-BE3E-42F7-A556-3E8CEFC1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the AI Assistant does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CD521B-04CF-402E-A7C7-3EE13F71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Plain-language interpretation of your results, in your language.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4F0D4B7-785F-4007-BDFE-78BF2BFE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ABE6B5B-D249-4E8A-B517-F2EF666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852536ec9147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1D023E0-E079-48BB-8C72-986983D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Interpret diagnostics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73E3A0E-E200-40AF-81A5-3E9549C8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Summarizes convergence, normality, and precision.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2329237-AF01-4C8E-B3DF-1819400C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CECCB65-02DD-42C8-BE2C-86ACD43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6cc59bb0541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CB7EAA0-FFB0-4714-810C-397DF61C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Evaluate normality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2B6BC08-B4C0-4711-83BE-55345038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Reads Shapiro–Wilk results; can view Q–Q plots.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9FAEC23-45B4-487B-85AF-ACF5672B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E377EA41-3E9E-4F4B-B07F-D87323DA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f7e9ec3f34e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06CBCC54-170F-42E3-A75D-1A4C99B3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 a brief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CB75B520-7316-4157-A86A-ABE33707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structured markdown analysis report.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89F2DC87-7CE7-4736-BB21-81868204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6052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24d46a77146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28853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0E9566AD-7A92-4D54-AE70-3837C08B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0520"/>
            <a:ext cx="7452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Privacy  </a:t>
            </a:r>
            <a:r>
              <a:rPr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Only aggregate diagnostics are sent to the API. Raw microdata and uploaded files stay on your computer.</a:t>
            </a:r>
          </a:p>
        </p:txBody>
      </p:sp>
    </p:spTree>
    <p:extLst>
      <p:ext uri="{BB962C8B-B14F-4D97-AF65-F5344CB8AC3E}">
        <p14:creationId xmlns:p14="http://schemas.microsoft.com/office/powerpoint/2010/main" val="84378422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3E34E0B-6237-49F4-ADBF-F10482C1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6C32DE-0A41-4D8E-8B8B-6829200C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680059F-F3CB-4801-BE2B-9A72BB45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ANTHROPIC CLAUDE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90923D-2EFB-421D-B528-EEA14FA6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9983FCD-B255-4BD4-902C-924ABC34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5CCDB48-FD01-44A4-8745-DD09C54A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25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FC2E92-410E-4999-B04D-6DA5B2BC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Claude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E9B5265-06F6-49F5-8490-CAD67AC8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Anthropic's API platform — keys start with sk-ant-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98471DE-BBF2-4C3A-90FC-95C9B919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67B3194-73DC-42BA-AB7E-80D6A64D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8C5FF11-060A-4BEE-AD67-053F1F24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console.anthropic.com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3DA9132-CCA2-44EE-96DE-E7F6B24F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F675461-8B97-410B-A45B-469802B8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D564006-9213-4638-9779-A07DD959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Settings → API Keys — or go to console.anthropic.com/settings/keys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4D57174-0B82-4A50-89B7-1F1994AC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17CEA51-3C88-422D-BB52-AE7F1209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30D51C1-C261-4307-84BD-E45F0E93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86AFBB7-DEB3-4B51-A63A-7AF49B11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7192E76-842E-4A11-AFE9-60A81FD7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78096B1-F9BD-4D6C-BB79-B1501275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672575B-11D3-489C-AF68-8811DC72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AE5BAAA-2E86-4FDF-9442-8748E5B2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194F899-8601-47F5-B2C3-1D631847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Paste into the app — AI Assistant panel → API Key field.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3BF3BB7-EB33-468E-A5C7-CC2F5A78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A1DE068-7FB2-4804-A3F5-7827A3A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12700">
            <a:solidFill>
              <a:srgbClr val="D977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6bfbbbeb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EEADFEE-4687-4C81-A17D-B4594467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0922EBA-A797-4A7A-8D9C-C161F31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Anthropic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27EF908-6FC4-47BD-9129-89334055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6BBE144E-BF8C-46F5-94BA-BA87E3E4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sk-ant-…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BBC406B-4CF1-4AE8-8C2B-018D6608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73659537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3FCBCED-5B9C-4A7F-8742-CE68FCD6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2C6FC08-0C1E-4836-B762-97DD8CF7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DFB227-8D0F-4FE0-B95F-0E055A65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OPENAI CHATGPT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D825DF6-A805-47AD-808A-432198F8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3EE52D9-9362-4F68-8AB0-0E896E81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2FE38B6-A985-45AE-AFD5-C0580573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26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4593FE-E22F-4960-9317-F7072142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ChatGPT (OpenAI)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136A64-1E8B-4596-B5BF-3F6483FA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OpenAI's developer platform — keys start with sk-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AE9206-4F02-4DFD-A5FE-8587ED21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B1593F-1C3A-423B-BB27-8593EE2E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94464D7-8C37-40C7-8D9E-5F794CE0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platform.openai.com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A5D7364-5CDC-46CB-B48F-5943AEF0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3C4AD83-593E-4A80-810E-4DFE7B1F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A854A9-EA51-45E3-AE91-376E56CD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Dashboard → API Keys — or go to platform.openai.com/api-keys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D321A3C-39DA-4047-AD46-99355BBD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A5913C2-A961-46DC-AB2E-83BB0199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0933DC0-3835-4128-A98E-A29B5B59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1EC3D35-AE55-42A3-81B6-E2F44C01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626CFC-6D56-4144-B3EE-ECEA7EC1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1A80A4A-B72E-4EA3-9888-6D745C3E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39A507B-225D-4D8F-B7E8-2DB34EE7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AED9191-D4CC-42B6-83BC-4FDC778C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69C1E46-5E47-4630-8F74-72017E47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Paste into the app — AI Assistant panel → API Key field.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0098F16-81C4-4EB7-963A-F7C44CE0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D8B7894-0D15-43D7-9BD3-01C3A0E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12700">
            <a:solidFill>
              <a:srgbClr val="10A37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0ff1606c843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DBE7A50-EBAE-445B-81F1-31AE36E1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ChatGPT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47C3FA6-37DE-40F1-A614-1C36D65D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OpenAI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25630890-6DE2-4BB5-96DB-846A635C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DC68B66-2F83-4693-9C44-2B13E7B8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F09A44A1-BD8E-4EE5-999B-71E99450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42987955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D99C153-E3A5-4E83-B00A-9F861FD2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B32C7D-A546-4896-8419-ECC80A21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BEB381-39A0-417D-ADB4-B83D5150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228D9C2-7E27-478F-8C20-CF59571E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D6C87BB-6603-4259-9D0B-9B05C2F9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1BC7369-9FF1-4F66-81C1-2A960CA3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27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2D645F-2066-434F-A79C-5CDDC35A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the AI Assistant in the app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3DFCE0-C26A-4FFD-A487-F5C5226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checkbox, one key, one language — then you're ready.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59AAE02-0980-4791-B5CD-8EF19E27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37360"/>
            <a:ext cx="393192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E0C14EF-34B0-445C-A6D7-AEDB0E7C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383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4E62D36-FD69-46A0-9D87-C6153A31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0280"/>
            <a:ext cx="3383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Uses Claude or ChatGPT to interpret diagnostics and generate briefs. Only aggregate summary statistics are sent — never raw microdata.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1FD5F3B-6CCC-4400-A98B-F589BDB0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2C3FB0B-E51F-4CD6-8CD9-9FAB1BA4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DF189F2-847F-4FCE-9E72-B4B8C5FC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Assistant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B2757D8-C3DA-45B3-A358-FE3777E4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API Key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31DC530-F0D9-48B6-9F84-D025BAD7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3931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3AA5900-F550-4093-B800-7D6F2E18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39312"/>
            <a:ext cx="3200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sk-ant-••••••••••••••••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DBD7C09-1CEA-4DBC-B55A-D5F97FE1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2336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D2A113A-86FA-4A40-8FA0-F40013C7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7939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A203F8F-4C4C-4C39-AE72-3821D844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79392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365332F-8255-40E0-8482-90211C47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279392"/>
            <a:ext cx="228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▾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4718779-8CFB-4520-8FE5-E15826EE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45E478D-7E63-47D3-8970-D1AB6E7C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EEFD9B4-EF3E-4569-895D-232CD898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4A58BAD-D755-476A-99CA-0077B01A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813D38D-4DFC-49FA-9B47-ADFD278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96596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Tick “Enable AI Assistant”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CDFB028-F64C-48E2-96B5-9D276D05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67712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Reveals the API Key and Language fields.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8C4C79D-CF5A-4808-B767-B7A2BD5D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AA93CF5-EADB-47B1-8BA1-302BFEDF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06502C0-8C27-47A5-8AD0-2ACBAE21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7C64568-2FF3-4604-8F68-9EDE758F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8E8CE68-087B-4677-A031-84BE7405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07792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Paste your API key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03C0275-8134-497F-B2F2-61B26316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09544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auto-detects Claude (sk-ant-…) or ChatGPT (sk-…).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151E27B-731A-453D-A6D5-0590E751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C0B1918C-7D0E-43E7-B83F-765EB543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5E8B485-ED40-41CD-91E1-83C01E23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F6B74D9-CBD0-4223-8BFB-0F6D88D1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1AD7DA9-7836-44C3-874C-B2F70B44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849624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your language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32315AC-5C8F-42D6-85F6-CFA8A42B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151376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25 options. Every AI response comes back in that language.</a:t>
            </a:r>
          </a:p>
        </p:txBody>
      </p:sp>
      <p:pic>
        <p:nvPicPr>
          <p:cNvPr id="8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14951a29840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0" y="470916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56DF9E23-CC6A-456F-B9DF-6471F5C8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54296"/>
            <a:ext cx="3611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key is never stored on disk — re-enter it each time you relaunch the app.</a:t>
            </a:r>
          </a:p>
        </p:txBody>
      </p:sp>
    </p:spTree>
    <p:extLst>
      <p:ext uri="{BB962C8B-B14F-4D97-AF65-F5344CB8AC3E}">
        <p14:creationId xmlns:p14="http://schemas.microsoft.com/office/powerpoint/2010/main" val="31766585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857109-CC77-4106-B31E-CE256ED3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A5F56BE-C8AC-4B0E-BC6E-3E4E9EB4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E275555-8463-4F0B-ABC2-A54EC024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8E21AEA-A810-4902-8431-74DA82E4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4904D5-3555-4A5C-A939-41C8F4F4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782A2A-68D8-4E39-9B0E-C59D64A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28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A828C3-B6D9-4D41-A3EA-EE681DE4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25 languages supported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A193E6D-3172-4C4C-9F50-2A07EC0D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AI response is returned in the language you pick.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7E9D79D-1844-4739-97D0-3C4F85F9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01168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CBE33EA-B1B5-4C9D-A756-37F47B1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0"/>
            <a:ext cx="20116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D8CC58-FC15-40FC-8712-3CA055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03320"/>
            <a:ext cx="640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B1EF959-D451-4E50-8B7D-81748ABF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languages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3AD904-4341-4498-AFB5-A6E77955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24 EU official  ·  + Arabic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15632E6-DA02-4DF8-87A6-D97CC1E6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A6A72CF-B536-4D0D-A0E0-5334805A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Bulgarian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5055A08-175C-4AD1-96A4-6EABAD23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120920-DCB8-46C8-A90F-AB89F28C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Croatian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8111935-6D27-48BD-B195-53DCA1B9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46C9142-9956-4B06-85F3-4444CBC9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Czech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46CEF15-98D3-448E-8F78-25954C06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37DDCB3-D8EC-412E-A7D3-7E2A1EE8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Danish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A5A9A64-BBD4-48B8-BC26-C9428C5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2E6BD48-9590-47D1-AD9A-AF7E1DB2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Dutch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89FD479-5691-4F76-81BA-EBAFD2F4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7D6467-B5D7-4AE7-9209-C9C9BFA0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1B626E1-6DAE-42A3-BB01-BA6DB49B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1828BA9-9538-478F-9171-6CCF695A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Estonian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984A143-3E28-4D08-A5C9-260C2A4B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40CC822-5526-4CD6-A968-00339285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Finnish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C4D53B6-03B6-4559-A87A-8921732C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78EC763-B37B-4966-8BDC-B899DD28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93849D3-DA24-4E34-9FFD-D1F8594C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3C18510-9DC9-4E60-8881-EBD83FDD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German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1238649-9E8F-4F2C-A9E0-01B45D79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1AD7B6F-EDCB-48DC-ACF2-780A8A26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Greek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E65E369-BA9D-4A9E-8E87-A87307D4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B752CD10-2F1A-495E-90E3-B7290D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Hungarian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86B2406-69BE-46AD-A1B0-57E30BA2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8AD2DEAC-57C2-4BE7-91B2-1AADBC5B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Irish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1EF81A98-45F5-4699-AD32-5CBDE51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7333508-2C99-419F-BCF5-91FF40F8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Italian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5DE3994-5D7D-43E2-BE31-13DE29AD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950B2106-2797-4266-9B30-7AE0A035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Latvian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87D189FD-7676-430E-A6E2-BB0FCDF4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09DC799E-F69F-4AB1-86C9-F300C329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Lithuanian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D485DEA-41F4-4D4B-A04D-8BF16829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ECC2372B-7A6E-4DFD-BD9E-8879A401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Maltese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C526E0E6-546F-4AB0-AB74-EFAE8DA4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F6C98A33-91B7-44A5-9925-8A9D173C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Polish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5E202B30-4467-4AD3-ABCB-696A34E3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D9D4419C-8A7C-458A-913C-152D447B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Portuguese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D0D7B34-691F-4377-A1B7-079CF15D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1C8B128C-21DF-4A3F-958F-D82D18F4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Romanian</a:t>
            </a:r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57A1C700-07EE-478C-B6F4-D947053E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70B966E6-BD8E-432E-B249-727908CF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Slovak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7467BCCA-2C8A-4C34-8DB9-203D513A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167806C7-3B95-4522-B198-C9A54E80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Slovenian</a:t>
            </a:r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4942F818-EEB9-4386-AA33-5A59D626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E8E7570A-6390-477A-B808-648CDBB2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Spanish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DC71F334-3822-4B11-BB59-4944E343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F29EC234-7B27-4B81-80D5-0F151700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Swedish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D7447C9C-C7E0-4E0B-9EC8-B3B8D27B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33039A83-53A7-4418-BB2F-ADCEA5DC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Arabic</a:t>
            </a:r>
          </a:p>
        </p:txBody>
      </p:sp>
    </p:spTree>
    <p:extLst>
      <p:ext uri="{BB962C8B-B14F-4D97-AF65-F5344CB8AC3E}">
        <p14:creationId xmlns:p14="http://schemas.microsoft.com/office/powerpoint/2010/main" val="93364031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53D9F7-BE8B-4B72-A51E-0D698FDC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95ABB34-CB7E-49B4-A596-D0FD0DAF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BC49EE-50EE-4482-9592-17AF115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A053247-B53B-4401-8A7E-10D640A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0F7397-8BE0-4339-B2C3-FF487AF2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9D03AF2-8491-4562-BC0C-050C98E2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29 / 30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3B425F-E96A-4F6E-9949-2982A8A1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Troubleshooting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E5DA6-70DD-4F0C-9184-2C7E8B98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Quick fixes for the most common stumbling blocks.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F19A11-1918-4C62-992D-219D9C1C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4F11A45-B961-4895-8BB6-EDE3E93C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34f9ac9ed4f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6634D09-DE22-4E81-BD40-723A52CC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Package errors on launch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1A81265-6EF1-424C-B46A-CE6A7AE0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Re-run Start_Dashboard.bat. It reinstalls missing packages automatically.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5F7CB06-8DA4-44E4-B498-2886771E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8C66E8E-9DB4-4BFB-8096-5F17EE3B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392b660b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840A86E7-ED4F-4680-B228-9A08C24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file not selected or not found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731AC2F-7ADF-4821-94BB-18DA5BF0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to select survey, auxiliary, and geometry files from any folder. Survey/auxiliary files can be .rds, .csv, .dta, or Excel; geometry can be ESRI .zip (valid .shp/.shx/.dbf), .rds, .gpkg, or GeoJSON. Do not browse only the .shp file.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0306D76-D8D3-46E0-A935-54A258C3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D3923B9-848D-4C39-8CE5-CF0B22F3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392b660b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8F5958DB-43BB-43F0-AE52-A6E6175B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will not render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13CD6BB9-8B6E-49E7-843E-0873C512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Re-run Start_Dashboard.bat; check the Status tab and app_runs/&lt;timestamp&gt;_&lt;run_label&gt;/run.log.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118E648F-624E-4DD6-A4B2-CE1EBDFD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5E2F76AF-BC71-49E6-AFF4-A984954A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392b660b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2A726CD4-DBA3-42B2-A5F1-85041A42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says invalid key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F2A32C43-A836-4879-8081-A37DFBA2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Paste only the key — no quotes, no spaces. Check billing is active.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9BEA3653-212B-4196-B067-CDD03E52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F71E6151-2DC6-4E51-AE47-2072990E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392b660b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5E27ADDE-C1D4-4778-81EC-2B804205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request times out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F09C2792-69A6-4471-9752-4BF5E07E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Try again; reduce year range or disable vision mode.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5015BA0E-4676-4BED-8FF3-896ACACF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B001B233-1358-4210-AF76-D9FABF4E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392b660b49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92E494EE-127F-4495-883D-6B271683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readiness error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42A9F09F-D87B-4758-9626-705D0C1E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geometry domain IDs match your data and the mapped geometry domain column. For ESRI shapefiles, use a .zip containing valid, non-empty .shp, .shx, and .dbf.</a:t>
            </a:r>
          </a:p>
        </p:txBody>
      </p:sp>
    </p:spTree>
    <p:extLst>
      <p:ext uri="{BB962C8B-B14F-4D97-AF65-F5344CB8AC3E}">
        <p14:creationId xmlns:p14="http://schemas.microsoft.com/office/powerpoint/2010/main" val="1911501480"/>
      </p:ext>
    </p:extLst>
  </p:cSld>
</p:sld>
</file>

<file path=ppt/slides/slide3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42caddd0cf9402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3BD247-56BC-41D3-BB01-6792CF2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8138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YOU'RE READY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556BD10-623C-41EA-8E72-281C94AD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468D23-93A7-419C-85E4-A7C9CE11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8138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Download, launch, analyse.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D9879A5-5D77-4279-AFBB-B2B2886E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5DB4BDF-A23B-4948-A782-010CEA28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2973d73f347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5A21973-4CE0-4721-9D02-A04873C6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 the v5.0.3 package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DEE99D3-AA11-415D-8AF7-168A0532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11A3E5B-0F64-47EC-AE4C-17F357FA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From the GitHub v5.0.3 release page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20733B-F5CD-46CF-A095-DF3C5CE1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8FA326-392C-4D5A-B9A1-5BBF5073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bf93038e840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E5E9E7F-6ECF-4A93-BB80-CE725592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Launch the dashboard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8089DE-7FDA-4FBE-A801-39C5C67A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710ACF5-4C4E-452C-AE70-CAC23446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4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Double-click Start_Dashboard.bat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ECBF8F1-B08A-46E6-8721-91ED6F1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C39FA76B-E978-4529-B4D7-8ACCF58B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571c0bed4f42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1232863-86B6-41CC-8E06-0130139E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Enable AI</a:t>
            </a: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FFAADF53-C0BC-43D4-ADF7-D517210D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0C666006-F7EA-49A1-B710-3BC66E4F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32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Paste key in the AI panel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F2DBC4BD-3DEB-4802-BFE5-4D10C7F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4058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Questions?  Nobuo Yoshida  ·  nyoshida@worldbank.org</a:t>
            </a:r>
          </a:p>
        </p:txBody>
      </p:sp>
    </p:spTree>
    <p:extLst>
      <p:ext uri="{BB962C8B-B14F-4D97-AF65-F5344CB8AC3E}">
        <p14:creationId xmlns:p14="http://schemas.microsoft.com/office/powerpoint/2010/main" val="11955898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2026-06-24T16:29:01.8470000Z</dcterms:created>
  <dcterms:modified xsi:type="dcterms:W3CDTF">2026-06-24T16:29:01.8470000Z</dcterms:modified>
</coreProperties>
</file>