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87" r:id="rId6"/>
    <p:sldId id="260" r:id="rId7"/>
    <p:sldId id="261" r:id="rId8"/>
    <p:sldId id="262" r:id="rId9"/>
    <p:sldId id="263" r:id="rId10"/>
    <p:sldId id="266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82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una Kashiwase" userId="0a10ef1a-e056-4d26-9e11-bd84e0cca615" providerId="ADAL" clId="{2404DFD1-E4A5-4D47-A385-0173218F0168}"/>
    <pc:docChg chg="mod modSld sldOrd modMainMaster">
      <pc:chgData name="Haruna Kashiwase" userId="0a10ef1a-e056-4d26-9e11-bd84e0cca615" providerId="ADAL" clId="{2404DFD1-E4A5-4D47-A385-0173218F0168}" dt="2026-05-19T15:38:55.439" v="3" actId="33475"/>
      <pc:docMkLst>
        <pc:docMk/>
      </pc:docMkLst>
      <pc:sldChg chg="ord">
        <pc:chgData name="Haruna Kashiwase" userId="0a10ef1a-e056-4d26-9e11-bd84e0cca615" providerId="ADAL" clId="{2404DFD1-E4A5-4D47-A385-0173218F0168}" dt="2026-05-19T15:38:55.048" v="1"/>
        <pc:sldMkLst>
          <pc:docMk/>
          <pc:sldMk cId="0" sldId="256"/>
        </pc:sldMkLst>
      </pc:sldChg>
      <pc:sldMasterChg chg="addSp mod">
        <pc:chgData name="Haruna Kashiwase" userId="0a10ef1a-e056-4d26-9e11-bd84e0cca615" providerId="ADAL" clId="{2404DFD1-E4A5-4D47-A385-0173218F0168}" dt="2026-05-19T15:38:55.437" v="2" actId="33475"/>
        <pc:sldMasterMkLst>
          <pc:docMk/>
          <pc:sldMasterMk cId="0" sldId="2147483648"/>
        </pc:sldMasterMkLst>
        <pc:spChg chg="add">
          <ac:chgData name="Haruna Kashiwase" userId="0a10ef1a-e056-4d26-9e11-bd84e0cca615" providerId="ADAL" clId="{2404DFD1-E4A5-4D47-A385-0173218F0168}" dt="2026-05-19T15:38:55.437" v="2" actId="33475"/>
          <ac:spMkLst>
            <pc:docMk/>
            <pc:sldMasterMk cId="0" sldId="2147483648"/>
            <ac:spMk id="3" creationId="{B476584A-2BBC-8ACE-5E41-9710F16DE853}"/>
          </ac:spMkLst>
        </pc:spChg>
      </pc:sldMasterChg>
    </pc:docChg>
  </pc:docChgLst>
  <pc:docChgLst>
    <pc:chgData name="Marialuz Moreno Badia" userId="ff33b2c9ad7db789" providerId="LiveId" clId="{1CB3068B-0191-41C0-A6D5-3F6F58F9FABC}"/>
    <pc:docChg chg="undo custSel addSld delSld modSld sldOrd">
      <pc:chgData name="Marialuz Moreno Badia" userId="ff33b2c9ad7db789" providerId="LiveId" clId="{1CB3068B-0191-41C0-A6D5-3F6F58F9FABC}" dt="2026-05-18T16:06:26.548" v="25" actId="1076"/>
      <pc:docMkLst>
        <pc:docMk/>
      </pc:docMkLst>
      <pc:sldChg chg="delSp modSp mod">
        <pc:chgData name="Marialuz Moreno Badia" userId="ff33b2c9ad7db789" providerId="LiveId" clId="{1CB3068B-0191-41C0-A6D5-3F6F58F9FABC}" dt="2026-05-18T16:06:26.548" v="25" actId="1076"/>
        <pc:sldMkLst>
          <pc:docMk/>
          <pc:sldMk cId="0" sldId="260"/>
        </pc:sldMkLst>
        <pc:spChg chg="mod">
          <ac:chgData name="Marialuz Moreno Badia" userId="ff33b2c9ad7db789" providerId="LiveId" clId="{1CB3068B-0191-41C0-A6D5-3F6F58F9FABC}" dt="2026-04-27T17:15:31.441" v="5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5:53.588" v="21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26.548" v="25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5:48.653" v="19" actId="1076"/>
          <ac:spMkLst>
            <pc:docMk/>
            <pc:sldMk cId="0" sldId="260"/>
            <ac:spMk id="19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00.944" v="22" actId="1076"/>
          <ac:spMkLst>
            <pc:docMk/>
            <pc:sldMk cId="0" sldId="260"/>
            <ac:spMk id="20" creationId="{00000000-0000-0000-0000-000000000000}"/>
          </ac:spMkLst>
        </pc:spChg>
        <pc:spChg chg="del mod">
          <ac:chgData name="Marialuz Moreno Badia" userId="ff33b2c9ad7db789" providerId="LiveId" clId="{1CB3068B-0191-41C0-A6D5-3F6F58F9FABC}" dt="2026-05-18T16:05:24.120" v="12" actId="478"/>
          <ac:spMkLst>
            <pc:docMk/>
            <pc:sldMk cId="0" sldId="260"/>
            <ac:spMk id="23" creationId="{00000000-0000-0000-0000-000000000000}"/>
          </ac:spMkLst>
        </pc:spChg>
        <pc:spChg chg="mod">
          <ac:chgData name="Marialuz Moreno Badia" userId="ff33b2c9ad7db789" providerId="LiveId" clId="{1CB3068B-0191-41C0-A6D5-3F6F58F9FABC}" dt="2026-05-18T16:06:19.482" v="24" actId="1076"/>
          <ac:spMkLst>
            <pc:docMk/>
            <pc:sldMk cId="0" sldId="260"/>
            <ac:spMk id="24" creationId="{00000000-0000-0000-0000-000000000000}"/>
          </ac:spMkLst>
        </pc:spChg>
        <pc:spChg chg="del">
          <ac:chgData name="Marialuz Moreno Badia" userId="ff33b2c9ad7db789" providerId="LiveId" clId="{1CB3068B-0191-41C0-A6D5-3F6F58F9FABC}" dt="2026-05-18T16:05:07.045" v="8" actId="478"/>
          <ac:spMkLst>
            <pc:docMk/>
            <pc:sldMk cId="0" sldId="260"/>
            <ac:spMk id="100" creationId="{00000000-0000-0000-0000-000000000000}"/>
          </ac:spMkLst>
        </pc:spChg>
      </pc:sldChg>
      <pc:sldChg chg="addSp delSp modSp add mod ord setBg">
        <pc:chgData name="Marialuz Moreno Badia" userId="ff33b2c9ad7db789" providerId="LiveId" clId="{1CB3068B-0191-41C0-A6D5-3F6F58F9FABC}" dt="2026-05-18T16:04:29.366" v="7"/>
        <pc:sldMkLst>
          <pc:docMk/>
          <pc:sldMk cId="234686998" sldId="287"/>
        </pc:sldMkLst>
        <pc:spChg chg="add mod">
          <ac:chgData name="Marialuz Moreno Badia" userId="ff33b2c9ad7db789" providerId="LiveId" clId="{1CB3068B-0191-41C0-A6D5-3F6F58F9FABC}" dt="2026-04-27T17:15:25.739" v="4" actId="20577"/>
          <ac:spMkLst>
            <pc:docMk/>
            <pc:sldMk cId="234686998" sldId="287"/>
            <ac:spMk id="31" creationId="{A221DF0C-5EE4-40E9-8F00-5AD185154EEF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2554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76584A-2BBC-8ACE-5E41-9710F16DE85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162925" y="4927600"/>
            <a:ext cx="9429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 Use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4.png"/><Relationship Id="rId5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Relationship Id="rId6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685800"/>
            <a:ext cx="3291840" cy="31272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02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2026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502920" y="86868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02920" y="10515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02920" y="17830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EU_SAE_application_package</a:t>
            </a:r>
            <a:r>
              <a:rPr lang="en-US" sz="2500" b="1" i="1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502920" y="2606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Area Estimation of poverty rates — from installation to AI-assisted analysis.</a:t>
            </a:r>
            <a:endParaRPr lang="en-US" sz="13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593592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35204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</a:t>
            </a:r>
            <a:endParaRPr lang="en-US" sz="13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08736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68680" y="401421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Start_Dashboard.bat</a:t>
            </a:r>
            <a:endParaRPr lang="en-US" sz="13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5811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68680" y="45079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Claude &amp; ChatGPT</a:t>
            </a:r>
            <a:endParaRPr lang="en-US" sz="1300" dirty="0"/>
          </a:p>
        </p:txBody>
      </p:sp>
      <p:sp>
        <p:nvSpPr>
          <p:cNvPr id="14" name="Text 8"/>
          <p:cNvSpPr/>
          <p:nvPr/>
        </p:nvSpPr>
        <p:spPr>
          <a:xfrm>
            <a:off x="502920" y="46863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Nobuo Yoshida  ·  World Bank Group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learn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a clear path from zero to running analyses.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54864" cy="256032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9360" y="2029968"/>
            <a:ext cx="329184" cy="32918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31520" y="251460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and set up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31520" y="3017520"/>
            <a:ext cx="2179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 and download the EU SAE Dashboard from the GitHub Releases page (currently a preliminary v2 pre-release). One-time work.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27660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276600" y="1828800"/>
            <a:ext cx="54864" cy="256032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505200" y="2011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3040" y="2029968"/>
            <a:ext cx="329184" cy="32918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505200" y="251460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Shiny dashboard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3505200" y="3017520"/>
            <a:ext cx="2179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data, choose options, run the UFH / MFH / Comparison pipeline.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6050280" y="1828800"/>
            <a:ext cx="259080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050280" y="1828800"/>
            <a:ext cx="54864" cy="256032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278880" y="2011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2029968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278880" y="251460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AI Assistant (optional)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6278880" y="3017520"/>
            <a:ext cx="2179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for a Claude or ChatGPT API key and paste it into the app.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EU SAE Dashboard?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Shiny application that guides you through Small Area Estimation of poverty rates.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82880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entry point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19456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survey, auxiliary, and geometry data,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Fay–Herriot models (UFH and MFH),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results side-by-side with maps and tables, and optionally </a:t>
            </a: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AI-assisted interpretation.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43891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4864" cy="45720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7512" y="3794760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Start_Dashboard.bat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0" y="1783080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0" y="1783080"/>
            <a:ext cx="54864" cy="530352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1929384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035040" y="18196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035040" y="20574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automatic checks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486400" y="2386584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486400" y="2386584"/>
            <a:ext cx="54864" cy="530352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2532888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035040" y="242316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UFH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035040" y="266090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Fay–Herriot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5486400" y="2990088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2"/>
          <p:cNvSpPr/>
          <p:nvPr/>
        </p:nvSpPr>
        <p:spPr>
          <a:xfrm>
            <a:off x="5486400" y="2990088"/>
            <a:ext cx="54864" cy="530352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3136392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035040" y="3026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MFH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6035040" y="326440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Fay–Herriot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5486400" y="3593592"/>
            <a:ext cx="31546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5486400" y="3593592"/>
            <a:ext cx="54864" cy="530352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3739896"/>
            <a:ext cx="237744" cy="23774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035040" y="36301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Compare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6035040" y="386791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vs MFH diagnostics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three-step pipeline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which steps to run in the sidebar of the app.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</a:t>
            </a:r>
            <a:endParaRPr lang="en-US" sz="18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1928" y="2697480"/>
            <a:ext cx="329184" cy="32918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7724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Fay–Herriot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one model per year, independently. A solid baseline.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55092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5092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</a:t>
            </a:r>
            <a:endParaRPr lang="en-US" sz="18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608" y="2697480"/>
            <a:ext cx="329184" cy="32918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55092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Fay–Herriot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55092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Jointly models years, borrowing strength across time.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32460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2460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288" y="269748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32460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vs MFH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32460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Maps, scatter plots, and precision metrics to pick a model.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datasets to prepare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these ready before you click Check Data Readiness.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</a:t>
            </a:r>
            <a:endParaRPr lang="en-US" sz="18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928" y="2697480"/>
            <a:ext cx="329184" cy="32918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7724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microdata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Microdata file with every variable used in the dashboard’s variable mapping — year, domain, PSU, weight, and welfare.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327660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55092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5092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Auxiliary</a:t>
            </a:r>
            <a:endParaRPr lang="en-US" sz="18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5608" y="2697480"/>
            <a:ext cx="329184" cy="32918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55092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Subnational aggregates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355092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of covariates at the target subnational unit — like the province-level aggregates in the sample data.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1"/>
          <p:cNvSpPr/>
          <p:nvPr/>
        </p:nvSpPr>
        <p:spPr>
          <a:xfrm>
            <a:off x="6050280" y="1828800"/>
            <a:ext cx="2590800" cy="68580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324600" y="1920240"/>
            <a:ext cx="213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3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24600" y="2139696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</a:t>
            </a:r>
            <a:endParaRPr lang="en-US" sz="180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9288" y="269748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324600" y="2697480"/>
            <a:ext cx="172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boundaries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324600" y="310896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boundaries of the target subnational units, used to draw the maps in every report.</a:t>
            </a:r>
            <a:endParaRPr lang="en-US" sz="1150" dirty="0"/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PATH2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shortcut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all defaults — the entire workflow takes six steps.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554480"/>
            <a:ext cx="36576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554480"/>
            <a:ext cx="54864" cy="278892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17190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 ·  ONE TIME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19751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plus your data files.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289864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EU_SAE_application_package from the GitHub Releases page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293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293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97726" y="3438144"/>
            <a:ext cx="2788920" cy="36576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89166" y="34527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Start_Dashboard.bat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408880"/>
            <a:ext cx="365760" cy="36576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340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93292" y="245059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Prepare your three datasets</a:t>
            </a:r>
            <a:endParaRPr lang="en-US" sz="1100" dirty="0"/>
          </a:p>
        </p:txBody>
      </p:sp>
      <p:sp>
        <p:nvSpPr>
          <p:cNvPr id="101" name="Text 101"/>
          <p:cNvSpPr/>
          <p:nvPr/>
        </p:nvSpPr>
        <p:spPr>
          <a:xfrm>
            <a:off x="731520" y="387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102" name="Text 102"/>
          <p:cNvSpPr/>
          <p:nvPr/>
        </p:nvSpPr>
        <p:spPr>
          <a:xfrm>
            <a:off x="1216152" y="38331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06240" y="26746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EB8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200" dirty="0"/>
          </a:p>
        </p:txBody>
      </p:sp>
      <p:sp>
        <p:nvSpPr>
          <p:cNvPr id="26" name="Shape 24"/>
          <p:cNvSpPr/>
          <p:nvPr/>
        </p:nvSpPr>
        <p:spPr>
          <a:xfrm>
            <a:off x="4617720" y="1554480"/>
            <a:ext cx="402336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617720" y="1554480"/>
            <a:ext cx="54864" cy="278892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46320" y="1719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 ·  EVERY RUN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19751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clicks — accept the defaults for everything else.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46320" y="2322576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2322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212080" y="22860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analysis years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212080" y="2432304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e.g., 2012, 2013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46320" y="2615184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26151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212080" y="257860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datasets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212080" y="2724912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+ auxiliary files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46320" y="2907792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846320" y="2907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2871216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key variables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212080" y="3017520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domain, weight, welfare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46320" y="3200400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46320" y="3200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212080" y="3163824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PSU consistency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212080" y="3310128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whether PSUs are consistent across years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46320" y="3493008"/>
            <a:ext cx="256032" cy="256032"/>
          </a:xfrm>
          <a:prstGeom prst="ellipse">
            <a:avLst/>
          </a:prstGeom>
          <a:solidFill>
            <a:srgbClr val="7A8CAE"/>
          </a:solidFill>
          <a:ln w="12700">
            <a:solidFill>
              <a:srgbClr val="7A8C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46320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212080" y="3456432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i="1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(optional)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212080" y="3602736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Claude or ChatGPT key for diagnostics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3785616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846320" y="37856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212080" y="374904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Check Data Readiness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212080" y="3895344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six readiness diagnostics — no modelling yet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46320" y="4078224"/>
            <a:ext cx="256032" cy="25603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846320" y="40782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212080" y="404164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Run Analysis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212080" y="4187952"/>
            <a:ext cx="3291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+ MFH + Comparison run automatically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02920" y="4416552"/>
            <a:ext cx="8138160" cy="310896"/>
          </a:xfrm>
          <a:prstGeom prst="rect">
            <a:avLst/>
          </a:prstGeom>
          <a:solidFill>
            <a:srgbClr val="E9F1FA"/>
          </a:solidFill>
          <a:ln w="9525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471416"/>
            <a:ext cx="201168" cy="201168"/>
          </a:xfrm>
          <a:prstGeom prst="rect">
            <a:avLst/>
          </a:prstGeom>
        </p:spPr>
      </p:pic>
      <p:sp>
        <p:nvSpPr>
          <p:cNvPr id="60" name="Text 57"/>
          <p:cNvSpPr/>
          <p:nvPr/>
        </p:nvSpPr>
        <p:spPr>
          <a:xfrm>
            <a:off x="914400" y="4416552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  </a:t>
            </a: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designed to work out of the box; only revisit them if diagnostics flag a problem.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005840"/>
            <a:ext cx="3154680" cy="2999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463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02920" y="20116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computer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0292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 and download the EU SAE Dashboard.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80960" y="46863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 at a glance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pieces of software plus the dashboard package.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54864" cy="12344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103120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993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417320" y="2304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engine  ·  ≥ 4.1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417320" y="26060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cran.r-project.org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182880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709160" y="1828800"/>
            <a:ext cx="54864" cy="12344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103120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623560" y="1993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5623560" y="2304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itself  ·  from the GitHub Releases page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623560" y="26060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 → Releases page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02920" y="329184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502920" y="3291840"/>
            <a:ext cx="54864" cy="12344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566160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417320" y="3456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keys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1417320" y="3767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Claude or ChatGPT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1417320" y="40690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Part 3 of this guide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4709160" y="329184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4"/>
          <p:cNvSpPr/>
          <p:nvPr/>
        </p:nvSpPr>
        <p:spPr>
          <a:xfrm>
            <a:off x="4709160" y="3291840"/>
            <a:ext cx="54864" cy="12344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356616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23560" y="3456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it!</a:t>
            </a:r>
            <a:endParaRPr lang="en-US" sz="1500" dirty="0"/>
          </a:p>
        </p:txBody>
      </p:sp>
      <p:sp>
        <p:nvSpPr>
          <p:cNvPr id="32" name="Text 26"/>
          <p:cNvSpPr/>
          <p:nvPr/>
        </p:nvSpPr>
        <p:spPr>
          <a:xfrm>
            <a:off x="5623560" y="3767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RStudio needed  ·  EU_SAE_application_package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5623560" y="40690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A7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to launch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1 OF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engine that powers everything else.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cran.r-project.org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4144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441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239572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Download R for Windows, Mac, or Linux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00837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008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962656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“base” and run the installer with default options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57530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3529584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all defaults — no configuration needed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2514600" cy="256032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148840"/>
            <a:ext cx="329184" cy="32918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400800" y="26060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 first?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400800" y="2971800"/>
            <a:ext cx="1965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the statistical engine that powers the dashboard. The EU SAE Dashboard runs directly from R without needing RStudio.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2 OF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dashboard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EU_SAE_application_package (preliminary v2 pre-release) from the GitHub Releases page.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18288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Releases page, open “EU SAE Application Package v2 - preliminary release” and download Source code (zip).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244144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441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239572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right-click the ZIP → Properties → check Unblock → OK, then Extract All.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00837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008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96265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convenient location, e.g. Documents/EU_SAE_application_package-2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357530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35295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 Start_Dashboard.bat, app.R, R/, scripts/, data/, outputs/, www/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852160" y="1783080"/>
            <a:ext cx="2788920" cy="2697480"/>
          </a:xfrm>
          <a:prstGeom prst="rect">
            <a:avLst/>
          </a:prstGeom>
          <a:solidFill>
            <a:srgbClr val="0E1B36"/>
          </a:solidFill>
          <a:ln w="9525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80760" y="1965960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EU_SAE_application_package-2/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app.R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Start_Dashboard.bat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outputs/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www/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3 OF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package installation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launch, Start_Dashboard.bat automatically installs all required packages.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8138160" cy="50292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54864" cy="50292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7512" y="1828800"/>
            <a:ext cx="7882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 automatically on first launch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24231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checks what is already installed and only downloads what is missing.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2920" y="2926080"/>
            <a:ext cx="54864" cy="82296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4088" y="3035808"/>
            <a:ext cx="231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UI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4088" y="3310128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shiny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7660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276600" y="2926080"/>
            <a:ext cx="54864" cy="82296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477768" y="3035808"/>
            <a:ext cx="231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SAE models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77768" y="3310128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emdi, sae, msae, survey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50280" y="292608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050280" y="2926080"/>
            <a:ext cx="54864" cy="82296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51448" y="3035808"/>
            <a:ext cx="231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51448" y="3310128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dplyr, tidyr, data.table, readxl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292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02920" y="3931920"/>
            <a:ext cx="54864" cy="82296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04088" y="4041648"/>
            <a:ext cx="231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4088" y="4315968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ggplot2, sf, viridis, patchwork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7660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76600" y="3931920"/>
            <a:ext cx="54864" cy="82296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77768" y="4041648"/>
            <a:ext cx="231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477768" y="4315968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rmarkdown, knitr, gt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050280" y="3931920"/>
            <a:ext cx="2590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050280" y="3931920"/>
            <a:ext cx="54864" cy="82296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251448" y="4041648"/>
            <a:ext cx="231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(optional)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1448" y="4315968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httr, jsonlite, base64enc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STEP 4 OF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dashboard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the launcher for your operating system. Your browser opens the dashboard at http://127.0.0.1:7777.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8138160" cy="50292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54864" cy="50292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7512" y="1828800"/>
            <a:ext cx="78821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Start_Dashboard.bat (Windows) / Start_Dashboard.command (macOS)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2920" y="2743200"/>
            <a:ext cx="54864" cy="173736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99232"/>
            <a:ext cx="384048" cy="38404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77240" y="352044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opens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77240" y="3886200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window shows the cover page.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27660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76600" y="2743200"/>
            <a:ext cx="54864" cy="173736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0920" y="2999232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50920" y="352044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Get Started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3550920" y="3886200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land on the main workspace.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6050280" y="2743200"/>
            <a:ext cx="25908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050280" y="2743200"/>
            <a:ext cx="54864" cy="173736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600" y="2999232"/>
            <a:ext cx="384048" cy="38404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24600" y="352044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guide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324600" y="3886200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Tooltips and a help tab walk you through.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005840"/>
            <a:ext cx="3154680" cy="2999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463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02920" y="20116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dashboard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0292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data, choose options, run the three pipeline steps.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80960" y="46863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 — the cover page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screen you see after launching the app.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49377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4937760" cy="292608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0080" y="1911096"/>
            <a:ext cx="128016" cy="12801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41248" y="1911096"/>
            <a:ext cx="128016" cy="128016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42416" y="1911096"/>
            <a:ext cx="128016" cy="128016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417320" y="18470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8C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localhost:####</a:t>
            </a:r>
            <a:endParaRPr lang="en-US" sz="10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331720"/>
            <a:ext cx="411480" cy="4114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17320" y="233172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Package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417320" y="26974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Area Estimation of poverty rates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68680" y="324612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68680" y="3246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 →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" y="3794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reveal the main workspace.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0" y="182880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find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669280" y="239572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89788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— choose which steps to run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0" y="280720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897880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Data Readiness, then Run Analysis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0" y="321868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897880" y="3108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tab — input validation at a glance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0" y="363016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5897880" y="3520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— six automatic checks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0" y="4041648"/>
            <a:ext cx="109728" cy="10972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589788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tab — live progress while the pipeline runs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4864" cy="27432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9224" y="3657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Two-stage launch — check, then run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207008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4357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your data before the pipeline starts. No more surprises mid-run.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36576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7739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357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sidebar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97280" y="2084832"/>
            <a:ext cx="2468880" cy="960120"/>
          </a:xfrm>
          <a:prstGeom prst="rect">
            <a:avLst/>
          </a:prstGeom>
          <a:solidFill>
            <a:srgbClr val="EEF1F7"/>
          </a:solidFill>
          <a:ln w="6350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280160" y="2221992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6350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222199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Check Data Readiness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80160" y="2615184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4D6FA0"/>
          </a:solidFill>
          <a:ln w="12700">
            <a:solidFill>
              <a:srgbClr val="4D6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80160" y="261518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Analysis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363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review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33832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run the pipeline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3657600" cy="384048"/>
          </a:xfrm>
          <a:prstGeom prst="rect">
            <a:avLst/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71246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E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Click 1, review, then click 2.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06240" y="2587752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B8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18" name="Shape 16"/>
          <p:cNvSpPr/>
          <p:nvPr/>
        </p:nvSpPr>
        <p:spPr>
          <a:xfrm>
            <a:off x="4617720" y="1627632"/>
            <a:ext cx="4023360" cy="116128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17720" y="1627632"/>
            <a:ext cx="91440" cy="1161288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73752" y="1792224"/>
            <a:ext cx="420624" cy="420624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336" y="1892808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40680" y="179222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Check Data Readiness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40680" y="21579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inputs, validates variables, runs the six readiness diagnostics, and populates the Preflight and Data Readiness tabs — no modelling yet.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617720" y="2935224"/>
            <a:ext cx="4023360" cy="116128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4617720" y="2935224"/>
            <a:ext cx="91440" cy="1161288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73752" y="3099816"/>
            <a:ext cx="420624" cy="420624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200400"/>
            <a:ext cx="219456" cy="219456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440680" y="309981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Analysis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5440680" y="346557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only after step 1. Runs the selected UFH / MFH / Comparison steps and writes the consolidated final_report.html plus Excel / CSV results to the outputs/ folder.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02920" y="4224528"/>
            <a:ext cx="8138160" cy="384048"/>
          </a:xfrm>
          <a:prstGeom prst="rect">
            <a:avLst/>
          </a:prstGeom>
          <a:solidFill>
            <a:srgbClr val="E9F1FA"/>
          </a:solidFill>
          <a:ln w="9525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667512" y="4224528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52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stages?  </a:t>
            </a: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what the app sees before committing to a long run — catch typos, missing domains, or unexpected years early.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502920" y="473659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7680960" y="4736592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29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0" y="4997196"/>
            <a:ext cx="9144000" cy="146304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tab — inputs at a glance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after Check Data Readiness. Confirms the app understood your inputs.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938528"/>
            <a:ext cx="237744" cy="23774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05840" y="184708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years parsed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05840" y="20574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2012, 2013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2920" y="237744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48716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05840" y="239572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mapping complete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1005840" y="26060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year, domain, psu, weight, welfare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292608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035808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05840" y="2944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 line set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1005840" y="31546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= relative, value = 0.60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47472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584448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05840" y="34930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file loaded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1005840" y="37033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 Greek province data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02920" y="4023360"/>
            <a:ext cx="5486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133088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05840" y="40416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Shapefile missing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1005840" y="42519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packaged geometries.rds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6537960" y="2011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for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6537960" y="2441448"/>
            <a:ext cx="164592" cy="164592"/>
          </a:xfrm>
          <a:prstGeom prst="rect">
            <a:avLst/>
          </a:prstGeom>
          <a:solidFill>
            <a:srgbClr val="2E7D54"/>
          </a:solidFill>
          <a:ln w="12700">
            <a:solidFill>
              <a:srgbClr val="2E7D5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6"/>
          <p:cNvSpPr/>
          <p:nvPr/>
        </p:nvSpPr>
        <p:spPr>
          <a:xfrm>
            <a:off x="6766560" y="23317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correctly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6537960" y="2862072"/>
            <a:ext cx="164592" cy="164592"/>
          </a:xfrm>
          <a:prstGeom prst="rect">
            <a:avLst/>
          </a:prstGeom>
          <a:solidFill>
            <a:srgbClr val="E6A23C"/>
          </a:solidFill>
          <a:ln w="12700">
            <a:solidFill>
              <a:srgbClr val="E6A2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/>
          <p:nvPr/>
        </p:nvSpPr>
        <p:spPr>
          <a:xfrm>
            <a:off x="6766560" y="27523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fallback is being used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6537960" y="3282696"/>
            <a:ext cx="164592" cy="1645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0"/>
          <p:cNvSpPr/>
          <p:nvPr/>
        </p:nvSpPr>
        <p:spPr>
          <a:xfrm>
            <a:off x="6766560" y="317296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 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error — fix and re-run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6537960" y="361188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is cheap — re-running it is a safe way to iterate on variable mappings.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 — six checks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Populated when you click Check Data Readiness. Review before Run Analysis.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54864" cy="12344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2331720"/>
            <a:ext cx="222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variable present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31520" y="2670048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datasets include a year column.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7660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76600" y="1828800"/>
            <a:ext cx="54864" cy="12344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505200" y="19659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05200" y="2331720"/>
            <a:ext cx="222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line up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505200" y="2670048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and auxiliary cover the same years.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50280" y="182880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50280" y="1828800"/>
            <a:ext cx="54864" cy="12344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278880" y="196596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78880" y="2331720"/>
            <a:ext cx="222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Covariate summary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278880" y="2670048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Means, SEs, correlation with poverty.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02920" y="3246120"/>
            <a:ext cx="54864" cy="12344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1520" y="33832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31520" y="3749040"/>
            <a:ext cx="222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alignment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31520" y="4087368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domains across all three files.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7660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76600" y="3246120"/>
            <a:ext cx="54864" cy="12344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505200" y="33832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505200" y="3749040"/>
            <a:ext cx="222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poverty rates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3505200" y="4087368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empty domain-year cells.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50280" y="3246120"/>
            <a:ext cx="25908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050280" y="3246120"/>
            <a:ext cx="54864" cy="12344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78880" y="33832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278880" y="3749040"/>
            <a:ext cx="222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headcount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278880" y="4087368"/>
            <a:ext cx="222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national poverty by year.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·  STEP 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 options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dropdowns decide how the univariate model is fit.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813816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arcsin (default) / no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estimates between 0 and 1; stabilizes variance.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correction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bc (default) / none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Adjusts for non-linearity of the arcsin transform.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BIC (default) / AIC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 for stepwise covariate selection.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covariates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(optional)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specific covariates into the model.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4480560"/>
            <a:ext cx="8138160" cy="365760"/>
          </a:xfrm>
          <a:prstGeom prst="rect">
            <a:avLst/>
          </a:prstGeom>
          <a:solidFill>
            <a:srgbClr val="FFF8E8"/>
          </a:solidFill>
          <a:ln w="9525">
            <a:solidFill>
              <a:srgbClr val="F2D5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5371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41832" y="44805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defaults. Change them only if diagnostics suggest a problem.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·  STEP 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 options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models borrow strength across years.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813816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AIC (default) / BIC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 for covariate selection.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 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sm_out / sm_all / direct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sampling variances are smoothed.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Covariance option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auto-matched to variance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cross-year covariance is set.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MFH2 / UFH / MFH1 / MFH3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model to inspect.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F1E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MFH3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28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checkbox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4357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Heteroskedastic AR(1); slower but more flexible.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solidFill>
            <a:srgbClr val="EEF5FB"/>
          </a:solidFill>
          <a:ln w="9525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9943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41832" y="4526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MFH2 is the default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homoskedastic AR(1), most parsimonious and usually most reliable.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pipeline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steps you want, then click Run Analysis.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1901952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487168"/>
            <a:ext cx="457200" cy="4572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371600" y="2542032"/>
            <a:ext cx="1584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UFH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77240" y="320040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one Fay–Herriot model per year. Diagnostics and maps appear in the UFH tab.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27660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27660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505200" y="1901952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0920" y="2487168"/>
            <a:ext cx="457200" cy="4572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145280" y="2542032"/>
            <a:ext cx="1584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MFH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3550920" y="320040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MFH1, MFH2, and (optionally) MFH3 jointly across years. Results in the MFH tab.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050280" y="1828800"/>
            <a:ext cx="25908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050280" y="1828800"/>
            <a:ext cx="2590800" cy="41148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278880" y="1901952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600" y="2487168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918960" y="2542032"/>
            <a:ext cx="1584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6324600" y="3200400"/>
            <a:ext cx="213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UFH and MFH side-by-side. Scatter plots, CVs, RMSEs, significance tests.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results live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main outputs — the outputs/ folder contains many more files.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783080"/>
            <a:ext cx="54864" cy="713232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84248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97280" y="184708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outputs/final_report.html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097280" y="2112264"/>
            <a:ext cx="32689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HTML report — maps, scatter plots, diagnostics, all in one file.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686300" y="178308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686300" y="1783080"/>
            <a:ext cx="54864" cy="713232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180" y="1984248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280660" y="184708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outputs/figures/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5280660" y="2112264"/>
            <a:ext cx="32689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and map plots (.png) — reusable in your own reports.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02920" y="260604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02920" y="2606040"/>
            <a:ext cx="54864" cy="713232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07208"/>
            <a:ext cx="310896" cy="31089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97280" y="267004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outputs/data/pov_comparison_detailed.xlsx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1097280" y="2935224"/>
            <a:ext cx="32689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poverty estimates (Direct, FH, MFH) with CVs and RMSEs.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686300" y="260604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4686300" y="2606040"/>
            <a:ext cx="54864" cy="713232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180" y="2807208"/>
            <a:ext cx="310896" cy="31089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280660" y="267004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outputs/data/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5280660" y="2935224"/>
            <a:ext cx="32689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model objects (.rds) and estimate tables (.xlsx).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502920" y="342900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502920" y="3429000"/>
            <a:ext cx="54864" cy="713232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30168"/>
            <a:ext cx="310896" cy="31089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97280" y="349300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outputs/tables/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97280" y="3758184"/>
            <a:ext cx="32689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summaries — Shapiro tests, significance results, readiness checks.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4686300" y="3429000"/>
            <a:ext cx="39547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9"/>
          <p:cNvSpPr/>
          <p:nvPr/>
        </p:nvSpPr>
        <p:spPr>
          <a:xfrm>
            <a:off x="4686300" y="3429000"/>
            <a:ext cx="54864" cy="713232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180" y="3630168"/>
            <a:ext cx="310896" cy="31089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280660" y="349300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outputs/session_info.txt</a:t>
            </a:r>
            <a:endParaRPr lang="en-US" sz="1050" dirty="0"/>
          </a:p>
        </p:txBody>
      </p:sp>
      <p:sp>
        <p:nvSpPr>
          <p:cNvPr id="39" name="Text 31"/>
          <p:cNvSpPr/>
          <p:nvPr/>
        </p:nvSpPr>
        <p:spPr>
          <a:xfrm>
            <a:off x="5280660" y="3758184"/>
            <a:ext cx="32689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session details — package versions, OS — for reproducibility.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502920" y="4389120"/>
            <a:ext cx="8138160" cy="365760"/>
          </a:xfrm>
          <a:prstGeom prst="rect">
            <a:avLst/>
          </a:prstGeom>
          <a:solidFill>
            <a:srgbClr val="EEF5FB"/>
          </a:solidFill>
          <a:ln w="9525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462272"/>
            <a:ext cx="219456" cy="219456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941832" y="43891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 </a:t>
            </a: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 also contains additional .xlsx files, change-analysis figures, and standalone diagnostics.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1005840"/>
            <a:ext cx="3154680" cy="29992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463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  ·  OPTIONAL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502920" y="187452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02920" y="20116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—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&amp; ChatGPT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50292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API keys, paste them in, and let the app interpret your diagnostics.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680960" y="46863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Assistant does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interpretation of your results, in your language.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54864" cy="201168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03120"/>
            <a:ext cx="457200" cy="457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77240" y="269748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diagnostics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" y="306324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Summarizes convergence, normality, and precision.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27660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3276600" y="1828800"/>
            <a:ext cx="54864" cy="201168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0920" y="2103120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550920" y="269748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normality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3550920" y="306324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Shapiro–Wilk results; can view Q–Q plots.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6050280" y="1828800"/>
            <a:ext cx="25908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6050280" y="1828800"/>
            <a:ext cx="54864" cy="201168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4600" y="210312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324600" y="269748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brief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324600" y="3063240"/>
            <a:ext cx="213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markdown analysis report.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502920" y="4160520"/>
            <a:ext cx="8138160" cy="502920"/>
          </a:xfrm>
          <a:prstGeom prst="rect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288536"/>
            <a:ext cx="274320" cy="2743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51560" y="4160520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aggregate statistics are sent to the API. Raw microdata never leaves your computer.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 ·  ANTHROPIC CLAUDE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Claude API key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Anthropic's API platform — keys start with sk-ant-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828800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console.anthropic.com — sign up or log 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35000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78408" y="2304288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API Keys — or go to console.anthropic.com/settings/keys directly.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282549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2825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" y="2779776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key — give it a name and copy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30098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3255264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credit in Billing — pay-as-you-go, no subscription.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3776472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3730752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the app — AI Assistant panel → API Key field.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09360" y="1828800"/>
            <a:ext cx="2331720" cy="91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0" y="2331720"/>
            <a:ext cx="548640" cy="54864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537960" y="30175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6537960" y="34290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537960" y="3840480"/>
            <a:ext cx="18745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37960" y="3840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sk-ant-…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537960" y="431596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format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 ·  OPENAI CHATGPT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ChatGPT (OpenAI) API key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OpenAI's developer platform — keys start with sk-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828800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platform.openai.com — sign up or log 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2350008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78408" y="2304288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→ API Keys — or go to platform.openai.com/api-keys directly.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2825496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2825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" y="2779776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key — give it a name and copy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300984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3300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3255264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credit in Billing — pay-as-you-go, no subscription.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3776472"/>
            <a:ext cx="347472" cy="347472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3730752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into the app — AI Assistant panel → API Key field.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1828800"/>
            <a:ext cx="233172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09360" y="1828800"/>
            <a:ext cx="2331720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0" y="2331720"/>
            <a:ext cx="548640" cy="54864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537960" y="30175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6537960" y="34290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537960" y="3840480"/>
            <a:ext cx="1874520" cy="45720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37960" y="3840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sk-…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537960" y="4315968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format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AI Assistant in the app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checkbox, one key, one language — then you're ready.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73736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19202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(optional)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22402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or ChatGPT to interpret diagnostics and generate briefs. Only aggregate summary statistics are sent — never raw microdata.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017520"/>
            <a:ext cx="201168" cy="201168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301752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29718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 Assistant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3832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7240" y="3639312"/>
            <a:ext cx="33832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68680" y="36393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E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sk-ant-••••••••••••••••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402336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279392"/>
            <a:ext cx="33832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427939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427939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▾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1828800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54880" y="1828800"/>
            <a:ext cx="54864" cy="86868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956048" y="2029968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56048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532120" y="19659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“Enable AI Assistant”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32120" y="2267712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the API Key and Language fields.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2770632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54880" y="2770632"/>
            <a:ext cx="54864" cy="86868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956048" y="2971800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56048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532120" y="290779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API key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32120" y="3209544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auto-detects Claude (sk-ant-…) or ChatGPT (sk-…).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54880" y="3712464"/>
            <a:ext cx="3886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754880" y="3712464"/>
            <a:ext cx="54864" cy="86868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956048" y="3913632"/>
            <a:ext cx="457200" cy="457200"/>
          </a:xfrm>
          <a:prstGeom prst="ellipse">
            <a:avLst/>
          </a:prstGeom>
          <a:solidFill>
            <a:srgbClr val="15284F"/>
          </a:solidFill>
          <a:ln w="12700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95604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532120" y="384962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language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532120" y="4151376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options. Every AI response comes back in that language.</a:t>
            </a:r>
            <a:endParaRPr lang="en-US" sz="1100" dirty="0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4709160"/>
            <a:ext cx="201168" cy="201168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5029200" y="4654296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is never stored on disk — re-enter it each time you relaunch the app.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languages supported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response is returned in the language you pick.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828800"/>
            <a:ext cx="2011680" cy="2697480"/>
          </a:xfrm>
          <a:prstGeom prst="rect">
            <a:avLst/>
          </a:prstGeom>
          <a:solidFill>
            <a:srgbClr val="15284F"/>
          </a:solidFill>
          <a:ln w="9525">
            <a:solidFill>
              <a:srgbClr val="1528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286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800" dirty="0"/>
          </a:p>
        </p:txBody>
      </p:sp>
      <p:sp>
        <p:nvSpPr>
          <p:cNvPr id="12" name="Shape 10"/>
          <p:cNvSpPr/>
          <p:nvPr/>
        </p:nvSpPr>
        <p:spPr>
          <a:xfrm>
            <a:off x="1188720" y="3703320"/>
            <a:ext cx="640080" cy="36576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3794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4114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EU official  ·  + Arabic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88920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88920" y="1828800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981298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981298" y="1828800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Croatian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173675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73675" y="1828800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Czech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66053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66053" y="1828800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Danish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558430" y="1828800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558430" y="1828800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Dutch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788920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88920" y="2390242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981298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981298" y="2390242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Estonian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173675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73675" y="2390242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Finnish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66053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66053" y="2390242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558430" y="2390242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558430" y="2390242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88920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788920" y="2951683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Greek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981298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981298" y="2951683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Hungarian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73675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173675" y="2951683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Irish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366053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66053" y="2951683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558430" y="2951683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558430" y="2951683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Latvian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88920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788920" y="3513125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Lithuanian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981298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981298" y="3513125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Maltese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173675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173675" y="3513125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366053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366053" y="3513125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Portuguese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7558430" y="3513125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558430" y="3513125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Romanian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88920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2788920" y="4074566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3981298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3981298" y="4074566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Slovenian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5173675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5173675" y="4074566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Spanish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366053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366053" y="4074566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Swedish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7558430" y="4074566"/>
            <a:ext cx="1082650" cy="451714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7558430" y="4074566"/>
            <a:ext cx="1082650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28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47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47960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SAE Dashboard  ·  User Guide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0" y="47960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8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6400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2920" y="123444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fixes for the most common stumbling blocks.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783080"/>
            <a:ext cx="54864" cy="749808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1680"/>
            <a:ext cx="310896" cy="31089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97280" y="1874520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errors on launch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97280" y="2130552"/>
            <a:ext cx="3268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Start_Dashboard.bat. It reinstalls missing packages automatically.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686300" y="1783080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4686300" y="1783080"/>
            <a:ext cx="54864" cy="749808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180" y="2011680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280660" y="1874520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not found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280660" y="2130552"/>
            <a:ext cx="3268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extracted the full EU_SAE_application_package-2 folder before running.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02920" y="2642616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02920" y="2642616"/>
            <a:ext cx="54864" cy="749808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71216"/>
            <a:ext cx="310896" cy="31089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97280" y="2734056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won't render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097280" y="2990088"/>
            <a:ext cx="3268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Start_Dashboard.bat to reinstall missing packages.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686300" y="2642616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4686300" y="2642616"/>
            <a:ext cx="54864" cy="749808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180" y="2871216"/>
            <a:ext cx="310896" cy="31089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280660" y="2734056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says invalid key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5280660" y="2990088"/>
            <a:ext cx="3268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only the key — no quotes, no spaces. Check billing is active.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502920" y="3502152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502920" y="3502152"/>
            <a:ext cx="54864" cy="749808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30752"/>
            <a:ext cx="310896" cy="31089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97280" y="3593592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request times out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1097280" y="3849624"/>
            <a:ext cx="3268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again; reduce year range or disable vision mode.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4686300" y="3502152"/>
            <a:ext cx="39547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CE4F0"/>
            </a:solidFill>
            <a:prstDash val="solid"/>
          </a:ln>
          <a:effectLst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9"/>
          <p:cNvSpPr/>
          <p:nvPr/>
        </p:nvSpPr>
        <p:spPr>
          <a:xfrm>
            <a:off x="4686300" y="3502152"/>
            <a:ext cx="54864" cy="749808"/>
          </a:xfrm>
          <a:prstGeom prst="rect">
            <a:avLst/>
          </a:prstGeom>
          <a:solidFill>
            <a:srgbClr val="6AA7D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180" y="3730752"/>
            <a:ext cx="310896" cy="310896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280660" y="3593592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doesn't render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280660" y="3849624"/>
            <a:ext cx="3268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35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geometries.rds domain IDs match your data.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8580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0" dirty="0">
                <a:solidFill>
                  <a:srgbClr val="6AA7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READY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2920" y="1097280"/>
            <a:ext cx="411480" cy="45720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Download, launch, analyse.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517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package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the GitHub Releases page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7660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27660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0920" y="265176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5092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dashboard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5092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359664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Double-click Start_Dashboard.bat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50280" y="2377440"/>
            <a:ext cx="2590800" cy="1691640"/>
          </a:xfrm>
          <a:prstGeom prst="rect">
            <a:avLst/>
          </a:prstGeom>
          <a:solidFill>
            <a:srgbClr val="1E3A6B"/>
          </a:solidFill>
          <a:ln w="9525">
            <a:solidFill>
              <a:srgbClr val="2D4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050280" y="2377440"/>
            <a:ext cx="2590800" cy="54864"/>
          </a:xfrm>
          <a:prstGeom prst="rect">
            <a:avLst/>
          </a:prstGeom>
          <a:solidFill>
            <a:srgbClr val="6AA7D9"/>
          </a:solidFill>
          <a:ln w="12700">
            <a:solidFill>
              <a:srgbClr val="6AA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4600" y="265176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24600" y="3063240"/>
            <a:ext cx="213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AI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324600" y="3474720"/>
            <a:ext cx="2042160" cy="411480"/>
          </a:xfrm>
          <a:prstGeom prst="rect">
            <a:avLst/>
          </a:prstGeom>
          <a:solidFill>
            <a:srgbClr val="0E1B36"/>
          </a:solidFill>
          <a:ln w="12700">
            <a:solidFill>
              <a:srgbClr val="0E1B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370320" y="3474720"/>
            <a:ext cx="195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 key in the AI panel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02920" y="46405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Nobuo Yoshida  ·  nyoshida@worldbank.org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2697</Words>
  <Application>Microsoft Office PowerPoint</Application>
  <PresentationFormat>On-screen Show (16:9)</PresentationFormat>
  <Paragraphs>525</Paragraphs>
  <Slides>29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Package — A Practical Guide to app.R</dc:title>
  <dc:subject>PptxGenJS Presentation</dc:subject>
  <dc:creator>Nobuo Yoshida</dc:creator>
  <cp:lastModifiedBy>Haruna Kashiwase</cp:lastModifiedBy>
  <cp:revision>1</cp:revision>
  <dcterms:created xsi:type="dcterms:W3CDTF">2026-04-25T15:06:33Z</dcterms:created>
  <dcterms:modified xsi:type="dcterms:W3CDTF">2026-05-19T15:38:55Z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1bf45b6-5649-4236-82a3-f45024cd282e_Enabled">
    <vt:lpwstr>true</vt:lpwstr>
  </property>
  <property fmtid="{D5CDD505-2E9C-101B-9397-08002B2CF9AE}" pid="3" name="MSIP_Label_f1bf45b6-5649-4236-82a3-f45024cd282e_SetDate">
    <vt:lpwstr>2026-05-19T15:38:55Z</vt:lpwstr>
  </property>
  <property fmtid="{D5CDD505-2E9C-101B-9397-08002B2CF9AE}" pid="4" name="MSIP_Label_f1bf45b6-5649-4236-82a3-f45024cd282e_Method">
    <vt:lpwstr>Standard</vt:lpwstr>
  </property>
  <property fmtid="{D5CDD505-2E9C-101B-9397-08002B2CF9AE}" pid="5" name="MSIP_Label_f1bf45b6-5649-4236-82a3-f45024cd282e_Name">
    <vt:lpwstr>Official Use Only</vt:lpwstr>
  </property>
  <property fmtid="{D5CDD505-2E9C-101B-9397-08002B2CF9AE}" pid="6" name="MSIP_Label_f1bf45b6-5649-4236-82a3-f45024cd282e_SiteId">
    <vt:lpwstr>31a2fec0-266b-4c67-b56e-2796d8f59c36</vt:lpwstr>
  </property>
  <property fmtid="{D5CDD505-2E9C-101B-9397-08002B2CF9AE}" pid="7" name="MSIP_Label_f1bf45b6-5649-4236-82a3-f45024cd282e_ActionId">
    <vt:lpwstr>4e4e302d-abba-46c8-b244-c82cebc430a8</vt:lpwstr>
  </property>
  <property fmtid="{D5CDD505-2E9C-101B-9397-08002B2CF9AE}" pid="8" name="MSIP_Label_f1bf45b6-5649-4236-82a3-f45024cd282e_ContentBits">
    <vt:lpwstr>2</vt:lpwstr>
  </property>
  <property fmtid="{D5CDD505-2E9C-101B-9397-08002B2CF9AE}" pid="9" name="MSIP_Label_f1bf45b6-5649-4236-82a3-f45024cd282e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Official Use Only</vt:lpwstr>
  </property>
</Properties>
</file>