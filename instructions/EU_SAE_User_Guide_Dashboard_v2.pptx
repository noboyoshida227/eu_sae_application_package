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87" r:id="rId6"/>
    <p:sldId id="260" r:id="rId7"/>
    <p:sldId id="261" r:id="rId8"/>
    <p:sldId id="262" r:id="rId9"/>
    <p:sldId id="263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a Kashiwase" userId="0a10ef1a-e056-4d26-9e11-bd84e0cca615" providerId="ADAL" clId="{2404DFD1-E4A5-4D47-A385-0173218F0168}"/>
    <pc:docChg chg="mod modSld sldOrd modMainMaster">
      <pc:chgData name="Haruna Kashiwase" userId="0a10ef1a-e056-4d26-9e11-bd84e0cca615" providerId="ADAL" clId="{2404DFD1-E4A5-4D47-A385-0173218F0168}" dt="2026-05-19T15:38:55.439" v="3" actId="33475"/>
      <pc:docMkLst>
        <pc:docMk/>
      </pc:docMkLst>
      <pc:sldChg chg="ord">
        <pc:chgData name="Haruna Kashiwase" userId="0a10ef1a-e056-4d26-9e11-bd84e0cca615" providerId="ADAL" clId="{2404DFD1-E4A5-4D47-A385-0173218F0168}" dt="2026-05-19T15:38:55.048" v="1"/>
        <pc:sldMkLst>
          <pc:docMk/>
          <pc:sldMk cId="0" sldId="256"/>
        </pc:sldMkLst>
      </pc:sldChg>
      <pc:sldMasterChg chg="addSp mod">
        <pc:chgData name="Haruna Kashiwase" userId="0a10ef1a-e056-4d26-9e11-bd84e0cca615" providerId="ADAL" clId="{2404DFD1-E4A5-4D47-A385-0173218F0168}" dt="2026-05-19T15:38:55.437" v="2" actId="33475"/>
        <pc:sldMasterMkLst>
          <pc:docMk/>
          <pc:sldMasterMk cId="0" sldId="2147483648"/>
        </pc:sldMasterMkLst>
        <pc:spChg chg="add">
          <ac:chgData name="Haruna Kashiwase" userId="0a10ef1a-e056-4d26-9e11-bd84e0cca615" providerId="ADAL" clId="{2404DFD1-E4A5-4D47-A385-0173218F0168}" dt="2026-05-19T15:38:55.437" v="2" actId="33475"/>
          <ac:spMkLst>
            <pc:docMk/>
            <pc:sldMasterMk cId="0" sldId="2147483648"/>
            <ac:spMk id="3" creationId="{B476584A-2BBC-8ACE-5E41-9710F16DE853}"/>
          </ac:spMkLst>
        </pc:spChg>
      </pc:sldMasterChg>
    </pc:docChg>
  </pc:docChgLst>
  <pc:docChgLst>
    <pc:chgData name="Marialuz Moreno Badia" userId="ff33b2c9ad7db789" providerId="LiveId" clId="{1CB3068B-0191-41C0-A6D5-3F6F58F9FABC}"/>
    <pc:docChg chg="undo custSel addSld delSld modSld sldOrd">
      <pc:chgData name="Marialuz Moreno Badia" userId="ff33b2c9ad7db789" providerId="LiveId" clId="{1CB3068B-0191-41C0-A6D5-3F6F58F9FABC}" dt="2026-05-18T16:06:26.548" v="25" actId="1076"/>
      <pc:docMkLst>
        <pc:docMk/>
      </pc:docMkLst>
      <pc:sldChg chg="delSp modSp mod">
        <pc:chgData name="Marialuz Moreno Badia" userId="ff33b2c9ad7db789" providerId="LiveId" clId="{1CB3068B-0191-41C0-A6D5-3F6F58F9FABC}" dt="2026-05-18T16:06:26.548" v="25" actId="1076"/>
        <pc:sldMkLst>
          <pc:docMk/>
          <pc:sldMk cId="0" sldId="260"/>
        </pc:sldMkLst>
        <pc:spChg chg="mod">
          <ac:chgData name="Marialuz Moreno Badia" userId="ff33b2c9ad7db789" providerId="LiveId" clId="{1CB3068B-0191-41C0-A6D5-3F6F58F9FABC}" dt="2026-04-27T17:15:31.441" v="5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53.588" v="2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26.5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48.653" v="19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00.944" v="22" actId="1076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Marialuz Moreno Badia" userId="ff33b2c9ad7db789" providerId="LiveId" clId="{1CB3068B-0191-41C0-A6D5-3F6F58F9FABC}" dt="2026-05-18T16:05:24.120" v="12" actId="478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19.482" v="24" actId="1076"/>
          <ac:spMkLst>
            <pc:docMk/>
            <pc:sldMk cId="0" sldId="260"/>
            <ac:spMk id="24" creationId="{00000000-0000-0000-0000-000000000000}"/>
          </ac:spMkLst>
        </pc:spChg>
        <pc:spChg chg="del">
          <ac:chgData name="Marialuz Moreno Badia" userId="ff33b2c9ad7db789" providerId="LiveId" clId="{1CB3068B-0191-41C0-A6D5-3F6F58F9FABC}" dt="2026-05-18T16:05:07.045" v="8" actId="478"/>
          <ac:spMkLst>
            <pc:docMk/>
            <pc:sldMk cId="0" sldId="260"/>
            <ac:spMk id="100" creationId="{00000000-0000-0000-0000-000000000000}"/>
          </ac:spMkLst>
        </pc:spChg>
      </pc:sldChg>
      <pc:sldChg chg="addSp delSp modSp add mod ord setBg">
        <pc:chgData name="Marialuz Moreno Badia" userId="ff33b2c9ad7db789" providerId="LiveId" clId="{1CB3068B-0191-41C0-A6D5-3F6F58F9FABC}" dt="2026-05-18T16:04:29.366" v="7"/>
        <pc:sldMkLst>
          <pc:docMk/>
          <pc:sldMk cId="234686998" sldId="287"/>
        </pc:sldMkLst>
        <pc:spChg chg="add mod">
          <ac:chgData name="Marialuz Moreno Badia" userId="ff33b2c9ad7db789" providerId="LiveId" clId="{1CB3068B-0191-41C0-A6D5-3F6F58F9FABC}" dt="2026-04-27T17:15:25.739" v="4" actId="20577"/>
          <ac:spMkLst>
            <pc:docMk/>
            <pc:sldMk cId="234686998" sldId="287"/>
            <ac:spMk id="31" creationId="{A221DF0C-5EE4-40E9-8F00-5AD185154EE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55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162925" y="49276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/Relationships>
</file>

<file path=ppt/slides/slide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394960" y="685800"/>
            <a:ext cx="3291840" cy="3127248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502920"/>
            <a:ext cx="48463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2026</a:t>
            </a:r>
            <a:endParaRPr lang="en-US" sz="11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8686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105156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</a:t>
            </a:r>
            <a:endParaRPr lang="en-US" sz="4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178308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EU_SAE_application_package</a:t>
            </a:r>
            <a:r>
              <a:rPr lang="en-US" sz="2500" b="1" i="1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44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502920" y="2606040"/>
            <a:ext cx="4846320" cy="7315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and welfare indicators - from setup to outputs.</a:t>
            </a:r>
            <a:endParaRPr lang="en-US" sz="1300" dirty="0"/>
          </a:p>
        </ns0:txBody>
      </ns0:sp>
      <ns0:pic>
        <ns0:nvPicPr>
          <ns0:cNvPr id="8" name="Image 1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02920" y="3593592"/>
            <a:ext cx="237744" cy="237744"/>
          </a:xfrm>
          <a:prstGeom prst="rect">
            <a:avLst/>
          </a:prstGeom>
        </ns0:spPr>
      </ns0:pic>
      <ns0:sp>
        <ns0:nvSpPr>
          <ns0:cNvPr id="9" name="Text 5"/>
          <ns0:cNvSpPr/>
          <ns0:nvPr/>
        </ns0:nvSpPr>
        <ns0:spPr>
          <a:xfrm>
            <a:off x="868680" y="3520440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300" dirty="0"/>
          </a:p>
        </ns0:txBody>
      </ns0:sp>
      <ns0:pic>
        <ns0:nvPicPr>
          <ns0:cNvPr id="10" name="Image 2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02920" y="4087368"/>
            <a:ext cx="237744" cy="237744"/>
          </a:xfrm>
          <a:prstGeom prst="rect">
            <a:avLst/>
          </a:prstGeom>
        </ns0:spPr>
      </ns0:pic>
      <ns0:sp>
        <ns0:nvSpPr>
          <ns0:cNvPr id="11" name="Text 6"/>
          <ns0:cNvSpPr/>
          <ns0:nvPr/>
        </ns0:nvSpPr>
        <ns0:spPr>
          <a:xfrm>
            <a:off x="868680" y="4014216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Start_Dashboard.bat</a:t>
            </a:r>
            <a:endParaRPr lang="en-US" sz="1300" dirty="0"/>
          </a:p>
        </ns0:txBody>
      </ns0:sp>
      <ns0:pic>
        <ns0:nvPicPr>
          <ns0:cNvPr id="12" name="Image 3" descr="preencoded.png"/>
          <ns0:cNvPicPr>
            <a:picLocks noChangeAspect="1"/>
          </ns0:cNvPicPr>
          <ns0:nvPr/>
        </ns0:nvPicPr>
        <ns0:blipFill>
          <a:blip ns2:embed="rId7"/>
          <a:stretch>
            <a:fillRect/>
          </a:stretch>
        </ns0:blipFill>
        <ns0:spPr>
          <a:xfrm>
            <a:off x="502920" y="4581144"/>
            <a:ext cx="237744" cy="237744"/>
          </a:xfrm>
          <a:prstGeom prst="rect">
            <a:avLst/>
          </a:prstGeom>
        </ns0:spPr>
      </ns0:pic>
      <ns0:sp>
        <ns0:nvSpPr>
          <ns0:cNvPr id="13" name="Text 7"/>
          <ns0:cNvSpPr/>
          <ns0:nvPr/>
        </ns0:nvSpPr>
        <ns0:spPr>
          <a:xfrm>
            <a:off x="868680" y="4507992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Claude &amp; ChatGPT</a:t>
            </a:r>
            <a:endParaRPr lang="en-US" sz="1300" dirty="0"/>
          </a:p>
        </ns0:txBody>
      </ns0:sp>
      <ns0:sp>
        <ns0:nvSpPr>
          <ns0:cNvPr id="14" name="Text 8"/>
          <ns0:cNvSpPr/>
          <ns0:nvPr/>
        </ns0:nvSpPr>
        <ns0:spPr>
          <a:xfrm>
            <a:off x="502920" y="468630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Nobuo Yoshida  ·  World Bank Group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a clear path from zero to running analyses.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2499360" y="2029968"/>
            <a:ext cx="329184" cy="329184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73152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set up</a:t>
            </a:r>
            <a:endParaRPr lang="en-US" sz="15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3152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 from the GitHub Releases page (currently a preliminary v2 pre-release). One-time work.</a:t>
            </a:r>
            <a:endParaRPr lang="en-US" sz="115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273040" y="2029968"/>
            <a:ext cx="329184" cy="329184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350520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Shiny dashboard</a:t>
            </a:r>
            <a:endParaRPr lang="en-US" sz="15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0520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map variables, benchmark if needed, and run the UFH / MFH / Comparison pipeline.</a:t>
            </a:r>
            <a:endParaRPr lang="en-US" sz="115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8046720" y="2029968"/>
            <a:ext cx="329184" cy="329184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27888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AI Assistant (optional)</a:t>
            </a:r>
            <a:endParaRPr lang="en-US" sz="15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27888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 a Claude or ChatGPT API key and paste it into the app.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EU SAE Dashboard?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Shiny application that guides you through Small Area Estimation of poverty rates.</a:t>
            </a:r>
            <a:endParaRPr lang="en-US" sz="13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502920" y="1828800"/>
            <a:ext cx="4389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entry point</a:t>
            </a:r>
            <a:endParaRPr lang="en-US" sz="13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194560"/>
            <a:ext cx="438912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survey, auxiliary, and geometry data,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Fay–Herriot models (UFH and MFH),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side-by-side with maps and tables, and optionally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AI-assisted interpretation.</a:t>
            </a:r>
            <a:endParaRPr lang="en-US" sz="13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502920" y="3794760"/>
            <a:ext cx="43891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3794760"/>
            <a:ext cx="54864" cy="45720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667512" y="3794760"/>
            <a:ext cx="41330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</a:t>
            </a:r>
            <a:endParaRPr lang="en-US" sz="13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486400" y="1783080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5486400" y="1783080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687568" y="1929384"/>
            <a:ext cx="237744" cy="237744"/>
          </a:xfrm>
          <a:prstGeom prst="rect">
            <a:avLst/>
          </a:prstGeom>
        </ns0:spPr>
      </ns0:pic>
      <ns0:sp>
        <ns0:nvSpPr>
          <ns0:cNvPr id="18" name="Text 15"/>
          <ns0:cNvSpPr/>
          <ns0:nvPr/>
        </ns0:nvSpPr>
        <ns0:spPr>
          <a:xfrm>
            <a:off x="6035040" y="1819656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2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6035040" y="2057400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diagnostics</a:t>
            </a:r>
            <a:endParaRPr lang="en-US" sz="100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5486400" y="2386584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Shape 18"/>
          <ns0:cNvSpPr/>
          <ns0:nvPr/>
        </ns0:nvSpPr>
        <ns0:spPr>
          <a:xfrm>
            <a:off x="5486400" y="2386584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687568" y="2532888"/>
            <a:ext cx="237744" cy="237744"/>
          </a:xfrm>
          <a:prstGeom prst="rect">
            <a:avLst/>
          </a:prstGeom>
        </ns0:spPr>
      </ns0:pic>
      <ns0:sp>
        <ns0:nvSpPr>
          <ns0:cNvPr id="23" name="Text 19"/>
          <ns0:cNvSpPr/>
          <ns0:nvPr/>
        </ns0:nvSpPr>
        <ns0:spPr>
          <a:xfrm>
            <a:off x="6035040" y="2423160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UFH</a:t>
            </a:r>
            <a:endParaRPr lang="en-US" sz="1200" dirty="0"/>
          </a:p>
        </ns0:txBody>
      </ns0:sp>
      <ns0:sp>
        <ns0:nvSpPr>
          <ns0:cNvPr id="24" name="Text 20"/>
          <ns0:cNvSpPr/>
          <ns0:nvPr/>
        </ns0:nvSpPr>
        <ns0:spPr>
          <a:xfrm>
            <a:off x="6035040" y="2660904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000" dirty="0"/>
          </a:p>
        </ns0:txBody>
      </ns0:sp>
      <ns0:sp>
        <ns0:nvSpPr>
          <ns0:cNvPr id="25" name="Shape 21"/>
          <ns0:cNvSpPr/>
          <ns0:nvPr/>
        </ns0:nvSpPr>
        <ns0:spPr>
          <a:xfrm>
            <a:off x="5486400" y="2990088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2"/>
          <ns0:cNvSpPr/>
          <ns0:nvPr/>
        </ns0:nvSpPr>
        <ns0:spPr>
          <a:xfrm>
            <a:off x="5486400" y="2990088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687568" y="3136392"/>
            <a:ext cx="237744" cy="237744"/>
          </a:xfrm>
          <a:prstGeom prst="rect">
            <a:avLst/>
          </a:prstGeom>
        </ns0:spPr>
      </ns0:pic>
      <ns0:sp>
        <ns0:nvSpPr>
          <ns0:cNvPr id="28" name="Text 23"/>
          <ns0:cNvSpPr/>
          <ns0:nvPr/>
        </ns0:nvSpPr>
        <ns0:spPr>
          <a:xfrm>
            <a:off x="6035040" y="3026664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MFH</a:t>
            </a:r>
            <a:endParaRPr lang="en-US" sz="1200" dirty="0"/>
          </a:p>
        </ns0:txBody>
      </ns0:sp>
      <ns0:sp>
        <ns0:nvSpPr>
          <ns0:cNvPr id="29" name="Text 24"/>
          <ns0:cNvSpPr/>
          <ns0:nvPr/>
        </ns0:nvSpPr>
        <ns0:spPr>
          <a:xfrm>
            <a:off x="6035040" y="3264408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000" dirty="0"/>
          </a:p>
        </ns0:txBody>
      </ns0:sp>
      <ns0:sp>
        <ns0:nvSpPr>
          <ns0:cNvPr id="30" name="Shape 25"/>
          <ns0:cNvSpPr/>
          <ns0:nvPr/>
        </ns0:nvSpPr>
        <ns0:spPr>
          <a:xfrm>
            <a:off x="5486400" y="3593592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Shape 26"/>
          <ns0:cNvSpPr/>
          <ns0:nvPr/>
        </ns0:nvSpPr>
        <ns0:spPr>
          <a:xfrm>
            <a:off x="5486400" y="3593592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687568" y="3739896"/>
            <a:ext cx="237744" cy="237744"/>
          </a:xfrm>
          <a:prstGeom prst="rect">
            <a:avLst/>
          </a:prstGeom>
        </ns0:spPr>
      </ns0:pic>
      <ns0:sp>
        <ns0:nvSpPr>
          <ns0:cNvPr id="33" name="Text 27"/>
          <ns0:cNvSpPr/>
          <ns0:nvPr/>
        </ns0:nvSpPr>
        <ns0:spPr>
          <a:xfrm>
            <a:off x="6035040" y="3630168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Compare</a:t>
            </a:r>
            <a:endParaRPr lang="en-US" sz="120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6035040" y="3867912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 diagnostics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three-step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which steps to run in the sidebar of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model per year, independently. A solid baseline.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models years, borrowing strength across time.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scatter plots, and precision metrics to pick a model.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ns0:sld xmlns:a="http://schemas.openxmlformats.org/drawingml/2006/main" xmlns:ns0="http://schemas.openxmlformats.org/presentationml/2006/main" xmlns:ns2="http://schemas.openxmlformats.org/officeDocument/2006/relationships" xmlns:ns3="http://schemas.microsoft.com/office/drawing/2014/main" xmlns:ns4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to prepare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these ready before you click Check Data Readiness.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7724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800" dirty="0"/>
          </a:p>
        </ns0:txBody>
      </ns0:sp>
      <ns0:pic>
        <ns0:nvPicPr>
          <ns0:cNvPr id="14" name="Image 0" descr="preencoded.png"/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2471928" y="2697480"/>
            <a:ext cx="329184" cy="329184"/>
          </a:xfrm>
          <a:prstGeom prst="rect">
            <a:avLst/>
          </a:prstGeom>
        </ns0:spPr>
      </ns0:pic>
      <ns0:sp>
        <ns0:nvSpPr>
          <ns0:cNvPr id="15" name="Text 12"/>
          <ns0:cNvSpPr/>
          <ns0:nvPr/>
        </ns0:nvSpPr>
        <ns0:spPr>
          <a:xfrm>
            <a:off x="77724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</a:t>
            </a:r>
            <a:endParaRPr lang="en-US" sz="12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77724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 with year, domain, PSU, weight, household size, welfare, poverty line, and optional strata or benchmark-level columns.</a:t>
            </a:r>
            <a:endParaRPr lang="en-US" sz="115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9" name="Text 16"/>
          <ns0:cNvSpPr/>
          <ns0:nvPr/>
        </ns0:nvSpPr>
        <ns0:spPr>
          <a:xfrm>
            <a:off x="355092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355092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</a:t>
            </a:r>
            <a:endParaRPr lang="en-US" sz="1800" dirty="0"/>
          </a:p>
        </ns0:txBody>
      </ns0:sp>
      <ns0:pic>
        <ns0:nvPicPr>
          <ns0:cNvPr id="21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245608" y="2697480"/>
            <a:ext cx="329184" cy="329184"/>
          </a:xfrm>
          <a:prstGeom prst="rect">
            <a:avLst/>
          </a:prstGeom>
        </ns0:spPr>
      </ns0:pic>
      <ns0:sp>
        <ns0:nvSpPr>
          <ns0:cNvPr id="22" name="Text 18"/>
          <ns0:cNvSpPr/>
          <ns0:nvPr/>
        </ns0:nvSpPr>
        <ns0:spPr>
          <a:xfrm>
            <a:off x="355092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Subnational aggregates</a:t>
            </a:r>
            <a:endParaRPr lang="en-US" sz="1200" dirty="0"/>
          </a:p>
        </ns0:txBody>
      </ns0:sp>
      <ns0:sp>
        <ns0:nvSpPr>
          <ns0:cNvPr id="23" name="Text 19"/>
          <ns0:cNvSpPr/>
          <ns0:nvPr/>
        </ns0:nvSpPr>
        <ns0:spPr>
          <a:xfrm>
            <a:off x="355092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covariates for the same areas and years used in the analysis.</a:t>
            </a:r>
            <a:endParaRPr lang="en-US" sz="1150" dirty="0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1"/>
          <ns0:cNvSpPr/>
          <ns0:nvPr/>
        </ns0:nvSpPr>
        <ns0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2"/>
          <ns0:cNvSpPr/>
          <ns0:nvPr/>
        </ns0:nvSpPr>
        <ns0:spPr>
          <a:xfrm>
            <a:off x="632460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3</a:t>
            </a:r>
            <a:endParaRPr lang="en-US" sz="1000" dirty="0"/>
          </a:p>
        </ns0:txBody>
      </ns0:sp>
      <ns0:sp>
        <ns0:nvSpPr>
          <ns0:cNvPr id="27" name="Text 23"/>
          <ns0:cNvSpPr/>
          <ns0:nvPr/>
        </ns0:nvSpPr>
        <ns0:spPr>
          <a:xfrm>
            <a:off x="632460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</a:t>
            </a:r>
            <a:endParaRPr lang="en-US" sz="1800" dirty="0"/>
          </a:p>
        </ns0:txBody>
      </ns0:sp>
      <ns0:pic>
        <ns0:nvPicPr>
          <ns0:cNvPr id="28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8019288" y="2697480"/>
            <a:ext cx="329184" cy="329184"/>
          </a:xfrm>
          <a:prstGeom prst="rect">
            <a:avLst/>
          </a:prstGeom>
        </ns0:spPr>
      </ns0:pic>
      <ns0:sp>
        <ns0:nvSpPr>
          <ns0:cNvPr id="29" name="Text 24"/>
          <ns0:cNvSpPr/>
          <ns0:nvPr/>
        </ns0:nvSpPr>
        <ns0:spPr>
          <a:xfrm>
            <a:off x="632460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boundaries</a:t>
            </a:r>
            <a:endParaRPr lang="en-US" sz="1200" dirty="0"/>
          </a:p>
        </ns0:txBody>
      </ns0:sp>
      <ns0:sp>
        <ns0:nvSpPr>
          <ns0:cNvPr id="30" name="Text 25"/>
          <ns0:cNvSpPr/>
          <ns0:nvPr/>
        </ns0:nvSpPr>
        <ns0:spPr>
          <a:xfrm>
            <a:off x="632460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boundaries for the target domains. Domain IDs must match the survey and auxiliary files.</a:t>
            </a:r>
            <a:endParaRPr lang="en-US" sz="1150" dirty="0"/>
          </a:p>
        </ns0:txBody>
      </ns0:sp>
      <ns0:sp>
        <ns0:nvSpPr>
          <ns0:cNvPr id="31" name="Text 2">
            <a:extLst>
              <a:ext uri="{FF2B5EF4-FFF2-40B4-BE49-F238E27FC236}">
                <ns3:creationId id="{A221DF0C-5EE4-40E9-8F00-5AD185154EEF}"/>
              </a:ext>
            </a:extLst>
          </ns0:cNvPr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PATH2</a:t>
            </a:r>
            <a:endParaRPr lang="en-US" sz="1000" dirty="0"/>
          </a:p>
        </ns0:txBody>
      </ns0:sp>
    </ns0:spTree>
    <ns0:extLst>
      <ns0:ext uri="{BB962C8B-B14F-4D97-AF65-F5344CB8AC3E}">
        <ns4:creationId val="234686998"/>
      </ns0:ext>
    </ns0:extLst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shortcut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essentials - the defaults handle the rest.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554480"/>
            <a:ext cx="36576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719072"/>
            <a:ext cx="329184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·  ONE TIME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1975104"/>
            <a:ext cx="3291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 and prepare survey, auxiliary, and geometry files.</a:t>
            </a:r>
            <a:endParaRPr lang="en-US" sz="110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731520" y="246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731520" y="246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188720" y="2898648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</a:t>
            </a:r>
            <a:endParaRPr lang="en-US" sz="12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31520" y="293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731520" y="293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1197726" y="3438144"/>
            <a:ext cx="2788920" cy="36576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1289166" y="345277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10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31520" y="340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731520" y="340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1193292" y="245059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or upload your data files</a:t>
            </a:r>
            <a:endParaRPr lang="en-US" sz="1100" dirty="0"/>
          </a:p>
        </ns0:txBody>
      </ns0:sp>
      <ns0:sp>
        <ns0:nvSpPr>
          <ns0:cNvPr id="101" name="Text 101"/>
          <ns0:cNvSpPr/>
          <ns0:nvPr/>
        </ns0:nvSpPr>
        <ns0:spPr>
          <a:xfrm>
            <a:off x="731520" y="387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102" name="Text 102"/>
          <ns0:cNvSpPr/>
          <ns0:nvPr/>
        </ns0:nvSpPr>
        <ns0:spPr>
          <a:xfrm>
            <a:off x="1216152" y="3833160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4206240" y="2674620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4617720" y="1554480"/>
            <a:ext cx="402336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46177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4846320" y="1719072"/>
            <a:ext cx="3657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·  EVERY RUN</a:t>
            </a:r>
            <a:endParaRPr lang="en-US" sz="10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4846320" y="1975104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required settings; revisit advanced options only when diagnostics suggest it.</a:t>
            </a:r>
            <a:endParaRPr lang="en-US" sz="110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4846320" y="232257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9"/>
          <ns0:cNvSpPr/>
          <ns0:nvPr/>
        </ns0:nvSpPr>
        <ns0:spPr>
          <a:xfrm>
            <a:off x="4846320" y="232257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ns0:txBody>
      </ns0:sp>
      <ns0:sp>
        <ns0:nvSpPr>
          <ns0:cNvPr id="32" name="Text 30"/>
          <ns0:cNvSpPr/>
          <ns0:nvPr/>
        </ns0:nvSpPr>
        <ns0:spPr>
          <a:xfrm>
            <a:off x="5212080" y="228600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analysis years and optional run label</a:t>
            </a:r>
            <a:endParaRPr lang="en-US" sz="105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212080" y="243230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2012, 2013</a:t>
            </a:r>
            <a:endParaRPr lang="en-US" sz="90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4846320" y="261518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33"/>
          <ns0:cNvSpPr/>
          <ns0:nvPr/>
        </ns0:nvSpPr>
        <ns0:spPr>
          <a:xfrm>
            <a:off x="4846320" y="261518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ns0:txBody>
      </ns0:sp>
      <ns0:sp>
        <ns0:nvSpPr>
          <ns0:cNvPr id="36" name="Text 34"/>
          <ns0:cNvSpPr/>
          <ns0:nvPr/>
        </ns0:nvSpPr>
        <ns0:spPr>
          <a:xfrm>
            <a:off x="5212080" y="257860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survey, auxiliary, and geometry files</a:t>
            </a:r>
            <a:endParaRPr lang="en-US" sz="105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5212080" y="272491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auxiliary + geometry files</a:t>
            </a:r>
            <a:endParaRPr lang="en-US" sz="900" dirty="0"/>
          </a:p>
        </ns0:txBody>
      </ns0:sp>
      <ns0:sp>
        <ns0:nvSpPr>
          <ns0:cNvPr id="38" name="Shape 36"/>
          <ns0:cNvSpPr/>
          <ns0:nvPr/>
        </ns0:nvSpPr>
        <ns0:spPr>
          <a:xfrm>
            <a:off x="4846320" y="2907792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9" name="Text 37"/>
          <ns0:cNvSpPr/>
          <ns0:nvPr/>
        </ns0:nvSpPr>
        <ns0:spPr>
          <a:xfrm>
            <a:off x="4846320" y="2907792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212080" y="2871216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key variables</a:t>
            </a:r>
            <a:endParaRPr lang="en-US" sz="105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5212080" y="3017520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domain, weight, hhsize, welfare</a:t>
            </a:r>
            <a:endParaRPr lang="en-US" sz="90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4846320" y="3200400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3" name="Text 41"/>
          <ns0:cNvSpPr/>
          <ns0:nvPr/>
        </ns0:nvSpPr>
        <ns0:spPr>
          <a:xfrm>
            <a:off x="4846320" y="3200400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5212080" y="3163824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PSU consistency</a:t>
            </a:r>
            <a:endParaRPr lang="en-US" sz="1050" dirty="0"/>
          </a:p>
        </ns0:txBody>
      </ns0:sp>
      <ns0:sp>
        <ns0:nvSpPr>
          <ns0:cNvPr id="45" name="Text 43"/>
          <ns0:cNvSpPr/>
          <ns0:nvPr/>
        </ns0:nvSpPr>
        <ns0:spPr>
          <a:xfrm>
            <a:off x="5212080" y="3310128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whether PSUs are consistent across years</a:t>
            </a:r>
            <a:endParaRPr lang="en-US" sz="900" dirty="0"/>
          </a:p>
        </ns0:txBody>
      </ns0:sp>
      <ns0:sp>
        <ns0:nvSpPr>
          <ns0:cNvPr id="46" name="Shape 44"/>
          <ns0:cNvSpPr/>
          <ns0:nvPr/>
        </ns0:nvSpPr>
        <ns0:spPr>
          <a:xfrm>
            <a:off x="4846320" y="3493008"/>
            <a:ext cx="256032" cy="256032"/>
          </a:xfrm>
          <a:prstGeom prst="ellipse">
            <a:avLst/>
          </a:prstGeom>
          <a:solidFill>
            <a:srgbClr val="7A8CAE"/>
          </a:solidFill>
          <a:ln w="12700">
            <a:solidFill>
              <a:srgbClr val="7A8CAE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7" name="Text 45"/>
          <ns0:cNvSpPr/>
          <ns0:nvPr/>
        </ns0:nvSpPr>
        <ns0:spPr>
          <a:xfrm>
            <a:off x="4846320" y="3493008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ns0:txBody>
      </ns0:sp>
      <ns0:sp>
        <ns0:nvSpPr>
          <ns0:cNvPr id="48" name="Text 46"/>
          <ns0:cNvSpPr/>
          <ns0:nvPr/>
        </ns0:nvSpPr>
        <ns0:spPr>
          <a:xfrm>
            <a:off x="5212080" y="3456432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050" dirty="0"/>
          </a:p>
        </ns0:txBody>
      </ns0:sp>
      <ns0:sp>
        <ns0:nvSpPr>
          <ns0:cNvPr id="49" name="Text 47"/>
          <ns0:cNvSpPr/>
          <ns0:nvPr/>
        </ns0:nvSpPr>
        <ns0:spPr>
          <a:xfrm>
            <a:off x="5212080" y="3602736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Claude or ChatGPT key for diagnostics</a:t>
            </a:r>
            <a:endParaRPr lang="en-US" sz="900" dirty="0"/>
          </a:p>
        </ns0:txBody>
      </ns0:sp>
      <ns0:sp>
        <ns0:nvSpPr>
          <ns0:cNvPr id="50" name="Shape 48"/>
          <ns0:cNvSpPr/>
          <ns0:nvPr/>
        </ns0:nvSpPr>
        <ns0:spPr>
          <a:xfrm>
            <a:off x="4846320" y="378561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1" name="Text 49"/>
          <ns0:cNvSpPr/>
          <ns0:nvPr/>
        </ns0:nvSpPr>
        <ns0:spPr>
          <a:xfrm>
            <a:off x="4846320" y="378561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5212080" y="374904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Check Data Readiness</a:t>
            </a:r>
            <a:endParaRPr lang="en-US" sz="1050" dirty="0"/>
          </a:p>
        </ns0:txBody>
      </ns0:sp>
      <ns0:sp>
        <ns0:nvSpPr>
          <ns0:cNvPr id="53" name="Text 51"/>
          <ns0:cNvSpPr/>
          <ns0:nvPr/>
        </ns0:nvSpPr>
        <ns0:spPr>
          <a:xfrm>
            <a:off x="5212080" y="389534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readiness diagnostics - no modelling yet</a:t>
            </a:r>
            <a:endParaRPr lang="en-US" sz="900" dirty="0"/>
          </a:p>
        </ns0:txBody>
      </ns0:sp>
      <ns0:sp>
        <ns0:nvSpPr>
          <ns0:cNvPr id="54" name="Shape 52"/>
          <ns0:cNvSpPr/>
          <ns0:nvPr/>
        </ns0:nvSpPr>
        <ns0:spPr>
          <a:xfrm>
            <a:off x="4846320" y="407822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5" name="Text 53"/>
          <ns0:cNvSpPr/>
          <ns0:nvPr/>
        </ns0:nvSpPr>
        <ns0:spPr>
          <a:xfrm>
            <a:off x="4846320" y="407822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ns0:txBody>
      </ns0:sp>
      <ns0:sp>
        <ns0:nvSpPr>
          <ns0:cNvPr id="56" name="Text 54"/>
          <ns0:cNvSpPr/>
          <ns0:nvPr/>
        </ns0:nvSpPr>
        <ns0:spPr>
          <a:xfrm>
            <a:off x="5212080" y="404164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 Analysis</a:t>
            </a:r>
            <a:endParaRPr lang="en-US" sz="1050" dirty="0"/>
          </a:p>
        </ns0:txBody>
      </ns0:sp>
      <ns0:sp>
        <ns0:nvSpPr>
          <ns0:cNvPr id="57" name="Text 55"/>
          <ns0:cNvSpPr/>
          <ns0:nvPr/>
        </ns0:nvSpPr>
        <ns0:spPr>
          <a:xfrm>
            <a:off x="5212080" y="418795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+ MFH + Comparison run; outputs are archived by run label</a:t>
            </a:r>
            <a:endParaRPr lang="en-US" sz="900" dirty="0"/>
          </a:p>
        </ns0:txBody>
      </ns0:sp>
      <ns0:sp>
        <ns0:nvSpPr>
          <ns0:cNvPr id="58" name="Shape 56"/>
          <ns0:cNvSpPr/>
          <ns0:nvPr/>
        </ns0:nvSpPr>
        <ns0:spPr>
          <a:xfrm>
            <a:off x="502920" y="4416552"/>
            <a:ext cx="8138160" cy="310896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59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40080" y="4471416"/>
            <a:ext cx="201168" cy="201168"/>
          </a:xfrm>
          <a:prstGeom prst="rect">
            <a:avLst/>
          </a:prstGeom>
        </ns0:spPr>
      </ns0:pic>
      <ns0:sp>
        <ns0:nvSpPr>
          <ns0:cNvPr id="60" name="Text 57"/>
          <ns0:cNvSpPr/>
          <ns0:nvPr/>
        </ns0:nvSpPr>
        <ns0:spPr>
          <a:xfrm>
            <a:off x="914400" y="4416552"/>
            <a:ext cx="75895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go to outputs/. A saved copy is archived under app_runs/&lt;timestamp&gt;_&lt;run_label&gt;/outputs.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computer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pieces of software plus the dashboard package.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58952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41732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41732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engine - R 4.2+</a:t>
            </a:r>
            <a:endParaRPr lang="en-US" sz="11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41732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cran.r-project.org</a:t>
            </a:r>
            <a:endParaRPr lang="en-US" sz="11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470916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470916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8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65192" y="2103120"/>
            <a:ext cx="457200" cy="457200"/>
          </a:xfrm>
          <a:prstGeom prst="rect">
            <a:avLst/>
          </a:prstGeom>
        </ns0:spPr>
      </ns0:pic>
      <ns0:sp>
        <ns0:nvSpPr>
          <ns0:cNvPr id="19" name="Text 15"/>
          <ns0:cNvSpPr/>
          <ns0:nvPr/>
        </ns0:nvSpPr>
        <ns0:spPr>
          <a:xfrm>
            <a:off x="562356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</a:t>
            </a:r>
            <a:endParaRPr lang="en-US" sz="1500" dirty="0"/>
          </a:p>
        </ns0:txBody>
      </ns0:sp>
      <ns0:sp>
        <ns0:nvSpPr>
          <ns0:cNvPr id="20" name="Text 16"/>
          <ns0:cNvSpPr/>
          <ns0:nvPr/>
        </ns0:nvSpPr>
        <ns0:spPr>
          <a:xfrm>
            <a:off x="562356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- from GitHub</a:t>
            </a:r>
            <a:endParaRPr lang="en-US" sz="11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562356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github.com/Noboyoshida227</a:t>
            </a:r>
            <a:endParaRPr lang="en-US" sz="11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50292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50292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4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58952" y="3566160"/>
            <a:ext cx="457200" cy="457200"/>
          </a:xfrm>
          <a:prstGeom prst="rect">
            <a:avLst/>
          </a:prstGeom>
        </ns0:spPr>
      </ns0:pic>
      <ns0:sp>
        <ns0:nvSpPr>
          <ns0:cNvPr id="25" name="Text 20"/>
          <ns0:cNvSpPr/>
          <ns0:nvPr/>
        </ns0:nvSpPr>
        <ns0:spPr>
          <a:xfrm>
            <a:off x="141732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keys</a:t>
            </a:r>
            <a:endParaRPr lang="en-US" sz="1500" dirty="0"/>
          </a:p>
        </ns0:txBody>
      </ns0:sp>
      <ns0:sp>
        <ns0:nvSpPr>
          <ns0:cNvPr id="26" name="Text 21"/>
          <ns0:cNvSpPr/>
          <ns0:nvPr/>
        </ns0:nvSpPr>
        <ns0:spPr>
          <a:xfrm>
            <a:off x="141732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Claude or ChatGPT</a:t>
            </a:r>
            <a:endParaRPr lang="en-US" sz="11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141732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Part 3 of this guide</a:t>
            </a:r>
            <a:endParaRPr lang="en-US" sz="1100" dirty="0"/>
          </a:p>
        </ns0:txBody>
      </ns0:sp>
      <ns0:sp>
        <ns0:nvSpPr>
          <ns0:cNvPr id="28" name="Shape 23"/>
          <ns0:cNvSpPr/>
          <ns0:nvPr/>
        </ns0:nvSpPr>
        <ns0:spPr>
          <a:xfrm>
            <a:off x="470916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9" name="Shape 24"/>
          <ns0:cNvSpPr/>
          <ns0:nvPr/>
        </ns0:nvSpPr>
        <ns0:spPr>
          <a:xfrm>
            <a:off x="470916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0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4965192" y="3566160"/>
            <a:ext cx="457200" cy="457200"/>
          </a:xfrm>
          <a:prstGeom prst="rect">
            <a:avLst/>
          </a:prstGeom>
        </ns0:spPr>
      </ns0:pic>
      <ns0:sp>
        <ns0:nvSpPr>
          <ns0:cNvPr id="31" name="Text 25"/>
          <ns0:cNvSpPr/>
          <ns0:nvPr/>
        </ns0:nvSpPr>
        <ns0:spPr>
          <a:xfrm>
            <a:off x="562356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it!</a:t>
            </a:r>
            <a:endParaRPr lang="en-US" sz="1500" dirty="0"/>
          </a:p>
        </ns0:txBody>
      </ns0:sp>
      <ns0:sp>
        <ns0:nvSpPr>
          <ns0:cNvPr id="32" name="Text 26"/>
          <ns0:cNvSpPr/>
          <ns0:nvPr/>
        </ns0:nvSpPr>
        <ns0:spPr>
          <a:xfrm>
            <a:off x="562356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RStudio needed  ·  EU_SAE_application_package</a:t>
            </a:r>
            <a:endParaRPr lang="en-US" sz="110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62356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to launch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1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 that powers everything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cran.r-project.org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Download R for Windows, Mac, or Linux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“base” and run the installer with default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no configuration needed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14600" cy="256032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8840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26060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 first?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0" y="297180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the statistical engine that powers the dashboard. The EU SAE Dashboard runs directly from R without needing RStudio.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2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1005840" y="1828800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GitHub repository or Releases page and download Source code (zip).</a:t>
            </a:r>
            <a:endParaRPr lang="en-US" sz="12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44144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05840" y="2395728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the ZIP → Properties → check Unblock → OK, then Extract All.</a:t>
            </a:r>
            <a:endParaRPr lang="en-US" sz="12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300837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1005840" y="2962656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convenient location, e.g. Documents/EU_SAE_application_package-2</a:t>
            </a:r>
            <a:endParaRPr lang="en-US" sz="12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57530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05840" y="3529584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 Start_Dashboard.bat, app.R, R/, scripts/, sample_data/, outputs/, instructions/, and www/.</a:t>
            </a:r>
            <a:endParaRPr lang="en-US" sz="12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852160" y="1783080"/>
            <a:ext cx="2788920" cy="2697480"/>
          </a:xfrm>
          <a:prstGeom prst="rect">
            <a:avLst/>
          </a:prstGeom>
          <a:solidFill>
            <a:srgbClr val="0E1B36"/>
          </a:solidFill>
          <a:ln w="9525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6080760" y="1965960"/>
            <a:ext cx="2468880" cy="24688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EU_SAE_application_package-2/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Start_Dashboard.bat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sample_data/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www/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1.xml><?xml version="1.0" encoding="utf-8"?>
<ns0:sld xmlns:a="http://schemas.openxmlformats.org/drawingml/2006/main" xmlns:ns0="http://schemas.openxmlformats.org/presentationml/2006/main">
  <ns0:cSld name="Slide 1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3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package installation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launch, Start_Dashboard.bat automatically installs all required packages.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automatically on first launch</a:t>
            </a:r>
            <a:endParaRPr lang="en-US" sz="13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242316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checks what is already installed and only downloads what is missing.</a:t>
            </a:r>
            <a:endParaRPr lang="en-US" sz="11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70408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UI</a:t>
            </a:r>
            <a:endParaRPr lang="en-US" sz="12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70408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05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327660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327660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347776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models</a:t>
            </a:r>
            <a:endParaRPr lang="en-US" sz="12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347776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emdi, sae, msae, survey</a:t>
            </a:r>
            <a:endParaRPr lang="en-US" sz="10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605028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21"/>
          <ns0:cNvSpPr/>
          <ns0:nvPr/>
        </ns0:nvSpPr>
        <ns0:spPr>
          <a:xfrm>
            <a:off x="605028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625144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25144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dplyr, tidyr, data.table, readxl</a:t>
            </a:r>
            <a:endParaRPr lang="en-US" sz="10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50292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70408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0408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ggplot2, sf, viridis, patchwork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47776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47776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rmarkdown, knitr, gt</a:t>
            </a:r>
            <a:endParaRPr lang="en-US" sz="105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605028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625144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(optional)</a:t>
            </a:r>
            <a:endParaRPr lang="en-US" sz="120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625144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httr, jsonlite, base64enc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4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4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Windows launcher or run the shell script. Your browser opens the first available local URL, usually http://127.0.0.1:7777.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 (Windows) / bash Start_Dashboard.sh (macOS/Linux)</a:t>
            </a:r>
            <a:endParaRPr lang="en-US" sz="130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999232"/>
            <a:ext cx="384048" cy="384048"/>
          </a:xfrm>
          <a:prstGeom prst="rect">
            <a:avLst/>
          </a:prstGeom>
        </ns0:spPr>
      </ns0:pic>
      <ns0:sp>
        <ns0:nvSpPr>
          <ns0:cNvPr id="16" name="Text 13"/>
          <ns0:cNvSpPr/>
          <ns0:nvPr/>
        </ns0:nvSpPr>
        <ns0:spPr>
          <a:xfrm>
            <a:off x="77724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opens</a:t>
            </a:r>
            <a:endParaRPr lang="en-US" sz="140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77724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window shows the cover page.</a:t>
            </a:r>
            <a:endParaRPr lang="en-US" sz="1150" dirty="0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6"/>
          <ns0:cNvSpPr/>
          <ns0:nvPr/>
        </ns0:nvSpPr>
        <ns0:spPr>
          <a:xfrm>
            <a:off x="327660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0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999232"/>
            <a:ext cx="384048" cy="384048"/>
          </a:xfrm>
          <a:prstGeom prst="rect">
            <a:avLst/>
          </a:prstGeom>
        </ns0:spPr>
      </ns0:pic>
      <ns0:sp>
        <ns0:nvSpPr>
          <ns0:cNvPr id="21" name="Text 17"/>
          <ns0:cNvSpPr/>
          <ns0:nvPr/>
        </ns0:nvSpPr>
        <ns0:spPr>
          <a:xfrm>
            <a:off x="355092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Get Started</a:t>
            </a:r>
            <a:endParaRPr lang="en-US" sz="1400" dirty="0"/>
          </a:p>
        </ns0:txBody>
      </ns0:sp>
      <ns0:sp>
        <ns0:nvSpPr>
          <ns0:cNvPr id="22" name="Text 18"/>
          <ns0:cNvSpPr/>
          <ns0:nvPr/>
        </ns0:nvSpPr>
        <ns0:spPr>
          <a:xfrm>
            <a:off x="355092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main workspace.</a:t>
            </a:r>
            <a:endParaRPr lang="en-US" sz="1150" dirty="0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999232"/>
            <a:ext cx="384048" cy="384048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32460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guide</a:t>
            </a:r>
            <a:endParaRPr lang="en-US" sz="14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Tooltips and a help tab walk you through.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</a:t>
            </a:r>
            <a:endParaRPr lang="en-US" sz="38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three pipeline steps.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1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— the cover page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you see after launching the app.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4937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4937760" cy="292608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Shape 10"/>
          <ns0:cNvSpPr/>
          <ns0:nvPr/>
        </ns0:nvSpPr>
        <ns0:spPr>
          <a:xfrm>
            <a:off x="640080" y="1911096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841248" y="1911096"/>
            <a:ext cx="128016" cy="128016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1042416" y="1911096"/>
            <a:ext cx="128016" cy="12801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1417320" y="1847088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localhost:####</a:t>
            </a:r>
            <a:endParaRPr lang="en-US" sz="1000" dirty="0"/>
          </a:p>
        </ns0:txBody>
      </ns0:sp>
      <ns0:pic>
        <ns0:nvPicPr>
          <ns0:cNvPr id="16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868680" y="2331720"/>
            <a:ext cx="411480" cy="411480"/>
          </a:xfrm>
          <a:prstGeom prst="rect">
            <a:avLst/>
          </a:prstGeom>
        </ns0:spPr>
      </ns0:pic>
      <ns0:sp>
        <ns0:nvSpPr>
          <ns0:cNvPr id="17" name="Text 14"/>
          <ns0:cNvSpPr/>
          <ns0:nvPr/>
        </ns0:nvSpPr>
        <ns0:spPr>
          <a:xfrm>
            <a:off x="1417320" y="2331720"/>
            <a:ext cx="38404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Package</a:t>
            </a:r>
            <a:endParaRPr lang="en-US" sz="18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1417320" y="2697480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</a:t>
            </a:r>
            <a:endParaRPr lang="en-US" sz="115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868680" y="3246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7"/>
          <ns0:cNvSpPr/>
          <ns0:nvPr/>
        </ns0:nvSpPr>
        <ns0:spPr>
          <a:xfrm>
            <a:off x="868680" y="3246120"/>
            <a:ext cx="173736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 →</a:t>
            </a:r>
            <a:endParaRPr lang="en-US" sz="12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868680" y="3794760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reveal the main workspace.</a:t>
            </a:r>
            <a:endParaRPr lang="en-US" sz="105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5669280" y="182880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</a:t>
            </a:r>
            <a:endParaRPr lang="en-US" sz="14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5669280" y="239572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1"/>
          <ns0:cNvSpPr/>
          <ns0:nvPr/>
        </ns0:nvSpPr>
        <ns0:spPr>
          <a:xfrm>
            <a:off x="5897880" y="228600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— choose which steps to run</a:t>
            </a:r>
            <a:endParaRPr lang="en-US" sz="120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5669280" y="280720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3"/>
          <ns0:cNvSpPr/>
          <ns0:nvPr/>
        </ns0:nvSpPr>
        <ns0:spPr>
          <a:xfrm>
            <a:off x="5897880" y="269748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Data Readiness, then Run Analysis</a:t>
            </a:r>
            <a:endParaRPr lang="en-US" sz="1200" dirty="0"/>
          </a:p>
        </ns0:txBody>
      </ns0:sp>
      <ns0:sp>
        <ns0:nvSpPr>
          <ns0:cNvPr id="27" name="Shape 24"/>
          <ns0:cNvSpPr/>
          <ns0:nvPr/>
        </ns0:nvSpPr>
        <ns0:spPr>
          <a:xfrm>
            <a:off x="5669280" y="321868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5"/>
          <ns0:cNvSpPr/>
          <ns0:nvPr/>
        </ns0:nvSpPr>
        <ns0:spPr>
          <a:xfrm>
            <a:off x="5897880" y="310896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 validation at a glance</a:t>
            </a:r>
            <a:endParaRPr lang="en-US" sz="12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669280" y="363016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7"/>
          <ns0:cNvSpPr/>
          <ns0:nvPr/>
        </ns0:nvSpPr>
        <ns0:spPr>
          <a:xfrm>
            <a:off x="5897880" y="352044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 checks</a:t>
            </a:r>
            <a:endParaRPr lang="en-US" sz="1200" dirty="0"/>
          </a:p>
        </ns0:txBody>
      </ns0:sp>
      <ns0:sp>
        <ns0:nvSpPr>
          <ns0:cNvPr id="31" name="Shape 28"/>
          <ns0:cNvSpPr/>
          <ns0:nvPr/>
        </ns0:nvSpPr>
        <ns0:spPr>
          <a:xfrm>
            <a:off x="5669280" y="404164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29"/>
          <ns0:cNvSpPr/>
          <ns0:nvPr/>
        </ns0:nvSpPr>
        <ns0:spPr>
          <a:xfrm>
            <a:off x="5897880" y="393192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tab - progress, run folder, and output locations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502920" y="384048"/>
            <a:ext cx="54864" cy="2743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" name="Text 1"/>
          <ns0:cNvSpPr/>
          <ns0:nvPr/>
        </ns0:nvSpPr>
        <ns0:spPr>
          <a:xfrm>
            <a:off x="649224" y="365760"/>
            <a:ext cx="457200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502920" y="658368"/>
            <a:ext cx="81381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launch — check, then run</a:t>
            </a:r>
            <a:endParaRPr lang="en-US" sz="280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02920" y="1207008"/>
            <a:ext cx="8138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your data before the pipeline starts. Catch typos, missing years, and mapping issues early.</a:t>
            </a:r>
            <a:endParaRPr lang="en-US" sz="1250" dirty="0"/>
          </a:p>
        </ns0:txBody>
      </ns0:sp>
      <ns0:sp>
        <ns0:nvSpPr>
          <ns0:cNvPr id="6" name="Shape 4"/>
          <ns0:cNvSpPr/>
          <ns0:nvPr/>
        </ns0:nvSpPr>
        <ns0:spPr>
          <a:xfrm>
            <a:off x="502920" y="1627632"/>
            <a:ext cx="3657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7" name="Text 5"/>
          <ns0:cNvSpPr/>
          <ns0:nvPr/>
        </ns0:nvSpPr>
        <ns0:spPr>
          <a:xfrm>
            <a:off x="502920" y="1773936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sidebar</a:t>
            </a:r>
            <a:endParaRPr lang="en-US" sz="120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1097280" y="2084832"/>
            <a:ext cx="2468880" cy="960120"/>
          </a:xfrm>
          <a:prstGeom prst="rect">
            <a:avLst/>
          </a:prstGeom>
          <a:solidFill>
            <a:srgbClr val="EEF1F7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" name="Shape 7"/>
          <ns0:cNvSpPr/>
          <ns0:nvPr/>
        </ns0:nvSpPr>
        <ns0:spPr>
          <a:xfrm>
            <a:off x="1280160" y="2221992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0" name="Text 8"/>
          <ns0:cNvSpPr/>
          <ns0:nvPr/>
        </ns0:nvSpPr>
        <ns0:spPr>
          <a:xfrm>
            <a:off x="1280160" y="2221992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1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1280160" y="2615184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4D6FA0"/>
          </a:solidFill>
          <a:ln w="12700">
            <a:solidFill>
              <a:srgbClr val="4D6FA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1280160" y="2615184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136392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review</a:t>
            </a:r>
            <a:endParaRPr lang="en-US" sz="11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3383280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run the pipeline</a:t>
            </a:r>
            <a:endParaRPr lang="en-US" sz="11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Click 1, review, then click 2.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4206240" y="2587752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4617720" y="1627632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4617720" y="1627632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Shape 18"/>
          <ns0:cNvSpPr/>
          <ns0:nvPr/>
        </ns0:nvSpPr>
        <ns0:spPr>
          <a:xfrm>
            <a:off x="4873752" y="1792224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974336" y="1892808"/>
            <a:ext cx="219456" cy="219456"/>
          </a:xfrm>
          <a:prstGeom prst="rect">
            <a:avLst/>
          </a:prstGeom>
        </ns0:spPr>
      </ns0:pic>
      <ns0:sp>
        <ns0:nvSpPr>
          <ns0:cNvPr id="22" name="Text 19"/>
          <ns0:cNvSpPr/>
          <ns0:nvPr/>
        </ns0:nvSpPr>
        <ns0:spPr>
          <a:xfrm>
            <a:off x="5440680" y="1792224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4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5440680" y="2157984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inputs, validates variables, checks requested years and mappings, and populates the Preflight and Data Readiness tabs - no modelling yet.</a:t>
            </a:r>
            <a:endParaRPr lang="en-US" sz="110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4617720" y="2935224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2"/>
          <ns0:cNvSpPr/>
          <ns0:nvPr/>
        </ns0:nvSpPr>
        <ns0:spPr>
          <a:xfrm>
            <a:off x="4617720" y="2935224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3"/>
          <ns0:cNvSpPr/>
          <ns0:nvPr/>
        </ns0:nvSpPr>
        <ns0:spPr>
          <a:xfrm>
            <a:off x="4873752" y="3099816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74336" y="3200400"/>
            <a:ext cx="219456" cy="219456"/>
          </a:xfrm>
          <a:prstGeom prst="rect">
            <a:avLst/>
          </a:prstGeom>
        </ns0:spPr>
      </ns0:pic>
      <ns0:sp>
        <ns0:nvSpPr>
          <ns0:cNvPr id="28" name="Text 24"/>
          <ns0:cNvSpPr/>
          <ns0:nvPr/>
        </ns0:nvSpPr>
        <ns0:spPr>
          <a:xfrm>
            <a:off x="5440680" y="3099816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400" dirty="0"/>
          </a:p>
        </ns0:txBody>
      </ns0:sp>
      <ns0:sp>
        <ns0:nvSpPr>
          <ns0:cNvPr id="29" name="Text 25"/>
          <ns0:cNvSpPr/>
          <ns0:nvPr/>
        </ns0:nvSpPr>
        <ns0:spPr>
          <a:xfrm>
            <a:off x="5440680" y="3465576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only after step 1. Runs the selected steps, writes current files to outputs/, and saves an archived copy in app_runs/&lt;timestamp&gt;_&lt;run_label&gt;/outputs.</a:t>
            </a:r>
            <a:endParaRPr lang="en-US" sz="1100" dirty="0"/>
          </a:p>
        </ns0:txBody>
      </ns0:sp>
      <ns0:sp>
        <ns0:nvSpPr>
          <ns0:cNvPr id="30" name="Shape 26"/>
          <ns0:cNvSpPr/>
          <ns0:nvPr/>
        </ns0:nvSpPr>
        <ns0:spPr>
          <a:xfrm>
            <a:off x="502920" y="4224528"/>
            <a:ext cx="8138160" cy="384048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7"/>
          <ns0:cNvSpPr/>
          <ns0:nvPr/>
        </ns0:nvSpPr>
        <ns0:spPr>
          <a:xfrm>
            <a:off x="667512" y="4224528"/>
            <a:ext cx="7808976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stages?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the app sees before committing to a long run - catch typos, missing domains, missing household size, or unexpected years early.</a:t>
            </a:r>
            <a:endParaRPr lang="en-US" sz="1050" dirty="0"/>
          </a:p>
        </ns0:txBody>
      </ns0:sp>
      <ns0:sp>
        <ns0:nvSpPr>
          <ns0:cNvPr id="32" name="Text 28"/>
          <ns0:cNvSpPr/>
          <ns0:nvPr/>
        </ns0:nvSpPr>
        <ns0:spPr>
          <a:xfrm>
            <a:off x="502920" y="4736592"/>
            <a:ext cx="45720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7680960" y="4736592"/>
            <a:ext cx="96012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900" dirty="0"/>
          </a:p>
        </ns0:txBody>
      </ns0:sp>
      <ns0:sp>
        <ns0:nvSpPr>
          <ns0:cNvPr id="34" name="Shape 30"/>
          <ns0:cNvSpPr/>
          <ns0:nvPr/>
        </ns0:nvSpPr>
        <ns0:spPr>
          <a:xfrm>
            <a:off x="0" y="4997196"/>
            <a:ext cx="9144000" cy="146304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after Check Data Readiness. Confirms the app understood your inputs.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1938528"/>
            <a:ext cx="237744" cy="237744"/>
          </a:xfrm>
          <a:prstGeom prst="rect">
            <a:avLst/>
          </a:prstGeom>
        </ns0:spPr>
      </ns0:pic>
      <ns0:sp>
        <ns0:nvSpPr>
          <ns0:cNvPr id="12" name="Text 9"/>
          <ns0:cNvSpPr/>
          <ns0:nvPr/>
        </ns0:nvSpPr>
        <ns0:spPr>
          <a:xfrm>
            <a:off x="1005840" y="184708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years parsed</a:t>
            </a:r>
            <a:endParaRPr lang="en-US" sz="11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1005840" y="205740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2012, 2013</a:t>
            </a:r>
            <a:endParaRPr lang="en-US" sz="105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502920" y="237744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2487168"/>
            <a:ext cx="237744" cy="237744"/>
          </a:xfrm>
          <a:prstGeom prst="rect">
            <a:avLst/>
          </a:prstGeom>
        </ns0:spPr>
      </ns0:pic>
      <ns0:sp>
        <ns0:nvSpPr>
          <ns0:cNvPr id="16" name="Text 12"/>
          <ns0:cNvSpPr/>
          <ns0:nvPr/>
        </ns0:nvSpPr>
        <ns0:spPr>
          <a:xfrm>
            <a:off x="1005840" y="239572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mapping complete</a:t>
            </a:r>
            <a:endParaRPr lang="en-US" sz="1150" dirty="0"/>
          </a:p>
        </ns0:txBody>
      </ns0:sp>
      <ns0:sp>
        <ns0:nvSpPr>
          <ns0:cNvPr id="17" name="Text 13"/>
          <ns0:cNvSpPr/>
          <ns0:nvPr/>
        </ns0:nvSpPr>
        <ns0:spPr>
          <a:xfrm>
            <a:off x="1005840" y="260604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domain, psu, weight, hhsize, welfare</a:t>
            </a:r>
            <a:endParaRPr lang="en-US" sz="1050" dirty="0"/>
          </a:p>
        </ns0:txBody>
      </ns0:sp>
      <ns0:sp>
        <ns0:nvSpPr>
          <ns0:cNvPr id="18" name="Shape 14"/>
          <ns0:cNvSpPr/>
          <ns0:nvPr/>
        </ns0:nvSpPr>
        <ns0:spPr>
          <a:xfrm>
            <a:off x="502920" y="292608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9" name="Image 2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035808"/>
            <a:ext cx="237744" cy="237744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005840" y="294436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line set</a:t>
            </a:r>
            <a:endParaRPr lang="en-US" sz="115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1005840" y="315468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= relative, value = 0.60</a:t>
            </a:r>
            <a:endParaRPr lang="en-US" sz="1050" dirty="0"/>
          </a:p>
        </ns0:txBody>
      </ns0:sp>
      <ns0:sp>
        <ns0:nvSpPr>
          <ns0:cNvPr id="22" name="Shape 17"/>
          <ns0:cNvSpPr/>
          <ns0:nvPr/>
        </ns0:nvSpPr>
        <ns0:spPr>
          <a:xfrm>
            <a:off x="502920" y="347472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3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584448"/>
            <a:ext cx="237744" cy="237744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1005840" y="349300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file loaded</a:t>
            </a:r>
            <a:endParaRPr lang="en-US" sz="11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1005840" y="370332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file or sample_data file</a:t>
            </a:r>
            <a:endParaRPr lang="en-US" sz="1050" dirty="0"/>
          </a:p>
        </ns0:txBody>
      </ns0:sp>
      <ns0:sp>
        <ns0:nvSpPr>
          <ns0:cNvPr id="26" name="Shape 20"/>
          <ns0:cNvSpPr/>
          <ns0:nvPr/>
        </ns0:nvSpPr>
        <ns0:spPr>
          <a:xfrm>
            <a:off x="502920" y="402336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7512" y="4133088"/>
            <a:ext cx="237744" cy="237744"/>
          </a:xfrm>
          <a:prstGeom prst="rect">
            <a:avLst/>
          </a:prstGeom>
        </ns0:spPr>
      </ns0:pic>
      <ns0:sp>
        <ns0:nvSpPr>
          <ns0:cNvPr id="28" name="Text 21"/>
          <ns0:cNvSpPr/>
          <ns0:nvPr/>
        </ns0:nvSpPr>
        <ns0:spPr>
          <a:xfrm>
            <a:off x="1005840" y="404164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missing</a:t>
            </a:r>
            <a:endParaRPr lang="en-US" sz="1150" dirty="0"/>
          </a:p>
        </ns0:txBody>
      </ns0:sp>
      <ns0:sp>
        <ns0:nvSpPr>
          <ns0:cNvPr id="29" name="Text 22"/>
          <ns0:cNvSpPr/>
          <ns0:nvPr/>
        </ns0:nvSpPr>
        <ns0:spPr>
          <a:xfrm>
            <a:off x="1005840" y="425196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geometry or sample_data geometry</a:t>
            </a:r>
            <a:endParaRPr lang="en-US" sz="1050" dirty="0"/>
          </a:p>
        </ns0:txBody>
      </ns0:sp>
      <ns0:sp>
        <ns0:nvSpPr>
          <ns0:cNvPr id="30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4"/>
          <ns0:cNvSpPr/>
          <ns0:nvPr/>
        </ns0:nvSpPr>
        <ns0:spPr>
          <a:xfrm>
            <a:off x="6537960" y="201168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300" dirty="0"/>
          </a:p>
        </ns0:txBody>
      </ns0:sp>
      <ns0:sp>
        <ns0:nvSpPr>
          <ns0:cNvPr id="32" name="Shape 25"/>
          <ns0:cNvSpPr/>
          <ns0:nvPr/>
        </ns0:nvSpPr>
        <ns0:spPr>
          <a:xfrm>
            <a:off x="6537960" y="2441448"/>
            <a:ext cx="164592" cy="164592"/>
          </a:xfrm>
          <a:prstGeom prst="rect">
            <a:avLst/>
          </a:prstGeom>
          <a:solidFill>
            <a:srgbClr val="2E7D54"/>
          </a:solidFill>
          <a:ln w="12700">
            <a:solidFill>
              <a:srgbClr val="2E7D54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3" name="Text 26"/>
          <ns0:cNvSpPr/>
          <ns0:nvPr/>
        </ns0:nvSpPr>
        <ns0:spPr>
          <a:xfrm>
            <a:off x="6766560" y="2331720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correctly</a:t>
            </a:r>
            <a:endParaRPr lang="en-US" sz="1100" dirty="0"/>
          </a:p>
        </ns0:txBody>
      </ns0:sp>
      <ns0:sp>
        <ns0:nvSpPr>
          <ns0:cNvPr id="34" name="Shape 27"/>
          <ns0:cNvSpPr/>
          <ns0:nvPr/>
        </ns0:nvSpPr>
        <ns0:spPr>
          <a:xfrm>
            <a:off x="6537960" y="2862072"/>
            <a:ext cx="164592" cy="164592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28"/>
          <ns0:cNvSpPr/>
          <ns0:nvPr/>
        </ns0:nvSpPr>
        <ns0:spPr>
          <a:xfrm>
            <a:off x="6766560" y="2752344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is being used</a:t>
            </a:r>
            <a:endParaRPr lang="en-US" sz="1100" dirty="0"/>
          </a:p>
        </ns0:txBody>
      </ns0:sp>
      <ns0:sp>
        <ns0:nvSpPr>
          <ns0:cNvPr id="36" name="Shape 29"/>
          <ns0:cNvSpPr/>
          <ns0:nvPr/>
        </ns0:nvSpPr>
        <ns0:spPr>
          <a:xfrm>
            <a:off x="6537960" y="3282696"/>
            <a:ext cx="164592" cy="1645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7" name="Text 30"/>
          <ns0:cNvSpPr/>
          <ns0:nvPr/>
        </ns0:nvSpPr>
        <ns0:spPr>
          <a:xfrm>
            <a:off x="6766560" y="3172968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error — fix and re-run</a:t>
            </a:r>
            <a:endParaRPr lang="en-US" sz="1100" dirty="0"/>
          </a:p>
        </ns0:txBody>
      </ns0:sp>
      <ns0:sp>
        <ns0:nvSpPr>
          <ns0:cNvPr id="38" name="Text 31"/>
          <ns0:cNvSpPr/>
          <ns0:nvPr/>
        </ns0:nvSpPr>
        <ns0:spPr>
          <a:xfrm>
            <a:off x="6537960" y="3611880"/>
            <a:ext cx="187452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is cheap — re-running it is a safe way to iterate on variable mappings.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7.xml><?xml version="1.0" encoding="utf-8"?>
<ns0:sld xmlns:a="http://schemas.openxmlformats.org/drawingml/2006/main" xmlns:ns0="http://schemas.openxmlformats.org/presentationml/2006/main">
  <ns0:cSld name="Slide 1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when you click Check Data Readiness. Review warnings and errors before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variable present</a:t>
            </a:r>
            <a:endParaRPr lang="en-US" sz="12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3152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include a year column.</a:t>
            </a:r>
            <a:endParaRPr lang="en-US" sz="10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327660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327660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350520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50520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years available</a:t>
            </a:r>
            <a:endParaRPr lang="en-US" sz="12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50520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and auxiliary data include the two requested years.</a:t>
            </a:r>
            <a:endParaRPr lang="en-US" sz="10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605028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9"/>
          <ns0:cNvSpPr/>
          <ns0:nvPr/>
        </ns0:nvSpPr>
        <ns0:spPr>
          <a:xfrm>
            <a:off x="605028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27888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627888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summary</a:t>
            </a:r>
            <a:endParaRPr lang="en-US" sz="125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627888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SEs, correlation with poverty.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50292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7" name="Text 25"/>
          <ns0:cNvSpPr/>
          <ns0:nvPr/>
        </ns0:nvSpPr>
        <ns0:spPr>
          <a:xfrm>
            <a:off x="73152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73152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alignment</a:t>
            </a:r>
            <a:endParaRPr lang="en-US" sz="125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3152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domains across all three files.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50520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50520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poverty rates</a:t>
            </a:r>
            <a:endParaRPr lang="en-US" sz="125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350520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empty domain-year cells.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605028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Text 35"/>
          <ns0:cNvSpPr/>
          <ns0:nvPr/>
        </ns0:nvSpPr>
        <ns0:spPr>
          <a:xfrm>
            <a:off x="627888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627888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headcount</a:t>
            </a:r>
            <a:endParaRPr lang="en-US" sz="125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627888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national poverty by year.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controls decide how the univariate model is fit.</a:t>
            </a:r>
            <a:endParaRPr lang="en-US" sz="1300" dirty="0"/>
          </a:p>
        </ns0:txBody>
      </ns0:sp>
      <ns0:graphicFrame>
        <ns0:nvGraphicFramePr>
          <ns0:cNvPr id="21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arcsin (default) / no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estimates between 0 and 1; stabilizes variance.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bc (default) / none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Adjusts for non-linearity of the arcsin transform.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BIC (default) / AIC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stepwise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covariates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(optional)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specific covariates into the model.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480560"/>
            <a:ext cx="8138160" cy="365760"/>
          </a:xfrm>
          <a:prstGeom prst="rect">
            <a:avLst/>
          </a:prstGeom>
          <a:solidFill>
            <a:srgbClr val="FFF8E8"/>
          </a:solidFill>
          <a:ln w="9525">
            <a:solidFill>
              <a:srgbClr val="F2D58A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5371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48056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defaults. Change them only if diagnostics suggest a problem.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2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models borrow strength across years; the selected MFH model drives user-facing outputs.</a:t>
            </a:r>
            <a:endParaRPr lang="en-US" sz="1300" dirty="0"/>
          </a:p>
        </ns0:txBody>
      </ns0:sp>
      <ns0:graphicFrame>
        <ns0:nvGraphicFramePr>
          <ns0:cNvPr id="22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AIC (default) / BIC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sm_out / sm_all / direct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sampling variances are smoothed.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auto-matched to variance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cross-year covariance is 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MFH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MFH2 / MFH1 / MFH3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MFH model appears in the export and report.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MFH3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Heteroskedastic AR(1); slower but more flexible.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5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52628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9943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52628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MFH2 is the default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homoskedastic AR(1), most parsimonious and usually most reliable.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pipeline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steps you want, then click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487168"/>
            <a:ext cx="457200" cy="457200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137160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7724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Fay–Herriot model per year. Diagnostics and maps appear in the UFH tab.</a:t>
            </a:r>
            <a:endParaRPr lang="en-US" sz="12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487168"/>
            <a:ext cx="457200" cy="457200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414528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5092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MFH1, MFH2, and (optionally) MFH3 jointly across years. Results in the MFH tab.</a:t>
            </a:r>
            <a:endParaRPr lang="en-US" sz="12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487168"/>
            <a:ext cx="457200" cy="457200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91896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8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UFH and MFH side-by-side. Scatter plots, CVs, RMSEs, significance tests.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live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are in outputs/. Each run also has an archived copy under app_runs/.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1984248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outputs/final_report.html</a:t>
            </a:r>
            <a:endParaRPr lang="en-US" sz="105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HTML report - includes Section 2 Run Setup, maps, scatter plots, diagnostics, and output locations.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1984248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outputs/figures/</a:t>
            </a:r>
            <a:endParaRPr lang="en-US" sz="105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map plots (.png) — reusable in your own reports.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85800" y="2807208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outputs/data/pov_comparison_detailed.xlsx</a:t>
            </a:r>
            <a:endParaRPr lang="en-US" sz="105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comparison of Direct, FH, benchmarked FH, MFH, and benchmarked MFH estimates with CVs, MSEs, and RMSEs.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869180" y="2807208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</a:t>
            </a:r>
            <a:endParaRPr lang="en-US" sz="105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workbooks, fitted model objects, and run_metadata.rds.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3630168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outputs/tables/</a:t>
            </a:r>
            <a:endParaRPr lang="en-US" sz="10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summaries - Shapiro tests, significance results, readiness checks, and diagnostics.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630168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app_runs/&lt;run label&gt;/app_config.yml</a:t>
            </a:r>
            <a:endParaRPr lang="en-US" sz="105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run configuration - years, mappings, benchmarking settings, and output archive location.</a:t>
            </a:r>
            <a:endParaRPr lang="en-US" sz="1050" dirty="0"/>
          </a:p>
        </ns0:txBody>
      </ns0:sp>
      <ns0:sp>
        <ns0:nvSpPr>
          <ns0:cNvPr id="40" name="Shape 32"/>
          <ns0:cNvSpPr/>
          <ns0:nvPr/>
        </ns0:nvSpPr>
        <ns0:spPr>
          <a:xfrm>
            <a:off x="502920" y="438912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41" name="Image 6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40080" y="4462272"/>
            <a:ext cx="219456" cy="219456"/>
          </a:xfrm>
          <a:prstGeom prst="rect">
            <a:avLst/>
          </a:prstGeom>
        </ns0:spPr>
      </ns0:pic>
      <ns0:sp>
        <ns0:nvSpPr>
          <ns0:cNvPr id="42" name="Text 33"/>
          <ns0:cNvSpPr/>
          <ns0:nvPr/>
        </ns0:nvSpPr>
        <ns0:spPr>
          <a:xfrm>
            <a:off x="941832" y="438912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Run Setup is the audit trail: run ID/label, output folders, benchmark source/level/target, and selected MFH model.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4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 ·  OPTIONAL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&amp; ChatGPT</a:t>
            </a:r>
            <a:endParaRPr lang="en-US" sz="3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API keys, paste them in, and let the app interpret your diagnostics.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Assistant does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interpretation of your results, in your language.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77724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diagnostics</a:t>
            </a:r>
            <a:endParaRPr lang="en-US" sz="14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77724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convergence, normality, and precision.</a:t>
            </a:r>
            <a:endParaRPr lang="en-US" sz="11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327660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103120"/>
            <a:ext cx="457200" cy="457200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355092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normality</a:t>
            </a:r>
            <a:endParaRPr lang="en-US" sz="14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355092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Shapiro–Wilk results; can view Q–Q plots.</a:t>
            </a:r>
            <a:endParaRPr lang="en-US" sz="11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605028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605028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103120"/>
            <a:ext cx="457200" cy="457200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632460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brief</a:t>
            </a:r>
            <a:endParaRPr lang="en-US" sz="14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632460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markdown analysis report.</a:t>
            </a:r>
            <a:endParaRPr lang="en-US" sz="11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502920" y="4160520"/>
            <a:ext cx="8138160" cy="5029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6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85800" y="4288536"/>
            <a:ext cx="274320" cy="274320"/>
          </a:xfrm>
          <a:prstGeom prst="rect">
            <a:avLst/>
          </a:prstGeom>
        </ns0:spPr>
      </ns0:pic>
      <ns0:sp>
        <ns0:nvSpPr>
          <ns0:cNvPr id="27" name="Text 21"/>
          <ns0:cNvSpPr/>
          <ns0:nvPr/>
        </ns0:nvSpPr>
        <ns0:spPr>
          <a:xfrm>
            <a:off x="1051560" y="4160520"/>
            <a:ext cx="745236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 diagnostics are sent to the API. Raw microdata and uploaded files stay on your computer.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ANTHROPIC CLAUDE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Claude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API platform — keys start with sk-ant-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console.anthropic.com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API Keys — or go to console.anthropic.com/settings/keys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OPENAI CHATGPT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ChatGPT (OpenAI)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developer platform — keys start with sk-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platform.openai.com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→ API Keys — or go to platform.openai.com/api-keys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AI Assistant in the app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checkbox, one key, one language — then you're ready.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3736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777240" y="1920240"/>
            <a:ext cx="33832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2240280"/>
            <a:ext cx="3383280" cy="6858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or ChatGPT to interpret diagnostics and generate briefs. Only aggregate summary statistics are sent — never raw microdata.</a:t>
            </a:r>
            <a:endParaRPr lang="en-US" sz="9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51560" y="2971800"/>
            <a:ext cx="310896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Assistant</a:t>
            </a:r>
            <a:endParaRPr lang="en-US" sz="11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77240" y="338328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0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77240" y="363931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868680" y="3639312"/>
            <a:ext cx="32004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sk-ant-••••••••••••••••</a:t>
            </a:r>
            <a:endParaRPr lang="en-US" sz="11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777240" y="402336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777240" y="427939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Text 19"/>
          <ns0:cNvSpPr/>
          <ns0:nvPr/>
        </ns0:nvSpPr>
        <ns0:spPr>
          <a:xfrm>
            <a:off x="868680" y="4279392"/>
            <a:ext cx="301752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931920" y="4279392"/>
            <a:ext cx="2286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10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4754880" y="1828800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Shape 22"/>
          <ns0:cNvSpPr/>
          <ns0:nvPr/>
        </ns0:nvSpPr>
        <ns0:spPr>
          <a:xfrm>
            <a:off x="4754880" y="1828800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5" name="Shape 23"/>
          <ns0:cNvSpPr/>
          <ns0:nvPr/>
        </ns0:nvSpPr>
        <ns0:spPr>
          <a:xfrm>
            <a:off x="4956048" y="2029968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4956048" y="2029968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ns0:txBody>
      </ns0:sp>
      <ns0:sp>
        <ns0:nvSpPr>
          <ns0:cNvPr id="27" name="Text 25"/>
          <ns0:cNvSpPr/>
          <ns0:nvPr/>
        </ns0:nvSpPr>
        <ns0:spPr>
          <a:xfrm>
            <a:off x="5532120" y="196596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“Enable AI Assistant”</a:t>
            </a:r>
            <a:endParaRPr lang="en-US" sz="13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5532120" y="2267712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API Key and Language fields.</a:t>
            </a:r>
            <a:endParaRPr lang="en-US" sz="110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4754880" y="2770632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Shape 28"/>
          <ns0:cNvSpPr/>
          <ns0:nvPr/>
        </ns0:nvSpPr>
        <ns0:spPr>
          <a:xfrm>
            <a:off x="4754880" y="2770632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4956048" y="2971800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4956048" y="2971800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532120" y="2907792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</a:t>
            </a:r>
            <a:endParaRPr lang="en-US" sz="130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5532120" y="3209544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auto-detects Claude (sk-ant-…) or ChatGPT (sk-…).</a:t>
            </a:r>
            <a:endParaRPr lang="en-US" sz="110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4754880" y="3712464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4754880" y="3712464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Shape 35"/>
          <ns0:cNvSpPr/>
          <ns0:nvPr/>
        </ns0:nvSpPr>
        <ns0:spPr>
          <a:xfrm>
            <a:off x="4956048" y="3913632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4956048" y="3913632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5532120" y="3849624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language</a:t>
            </a:r>
            <a:endParaRPr lang="en-US" sz="130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532120" y="4151376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options. Every AI response comes back in that language.</a:t>
            </a:r>
            <a:endParaRPr lang="en-US" sz="1100" dirty="0"/>
          </a:p>
        </ns0:txBody>
      </ns0:sp>
      <ns0:pic>
        <ns0:nvPicPr>
          <ns0:cNvPr id="4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754880" y="4709160"/>
            <a:ext cx="201168" cy="201168"/>
          </a:xfrm>
          <a:prstGeom prst="rect">
            <a:avLst/>
          </a:prstGeom>
        </ns0:spPr>
      </ns0:pic>
      <ns0:sp>
        <ns0:nvSpPr>
          <ns0:cNvPr id="42" name="Text 39"/>
          <ns0:cNvSpPr/>
          <ns0:nvPr/>
        </ns0:nvSpPr>
        <ns0:spPr>
          <a:xfrm>
            <a:off x="5029200" y="4654296"/>
            <a:ext cx="36118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is never stored on disk — re-enter it each time you relaunch the app.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7.xml><?xml version="1.0" encoding="utf-8"?>
<ns0:sld xmlns:a="http://schemas.openxmlformats.org/drawingml/2006/main" xmlns:ns0="http://schemas.openxmlformats.org/presentationml/2006/main">
  <ns0:cSld name="Slide 2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languages supported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response is returned in the language you pick.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01168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286000"/>
            <a:ext cx="201168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8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1188720" y="3703320"/>
            <a:ext cx="640080" cy="36576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79476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411480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EU official  ·  + Arabic</a:t>
            </a:r>
            <a:endParaRPr lang="en-US" sz="10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</a:t>
            </a:r>
            <a:endParaRPr lang="en-US" sz="10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Croatian</a:t>
            </a:r>
            <a:endParaRPr lang="en-US" sz="10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Czech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</a:t>
            </a:r>
            <a:endParaRPr lang="en-US" sz="10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ns0:txBody>
      </ns0:sp>
      <ns0:sp>
        <ns0:nvSpPr>
          <ns0:cNvPr id="27" name="Shape 25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Estonian</a:t>
            </a:r>
            <a:endParaRPr lang="en-US" sz="105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8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Finnish</a:t>
            </a:r>
            <a:endParaRPr lang="en-US" sz="105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endParaRPr lang="en-US" sz="105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4" name="Text 32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050" dirty="0"/>
          </a:p>
        </ns0:txBody>
      </ns0:sp>
      <ns0:sp>
        <ns0:nvSpPr>
          <ns0:cNvPr id="37" name="Shape 35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</a:t>
            </a:r>
            <a:endParaRPr lang="en-US" sz="105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0" name="Text 38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Irish</a:t>
            </a:r>
            <a:endParaRPr lang="en-US" sz="1050" dirty="0"/>
          </a:p>
        </ns0:txBody>
      </ns0:sp>
      <ns0:sp>
        <ns0:nvSpPr>
          <ns0:cNvPr id="41" name="Shape 39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2" name="Text 40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</a:t>
            </a:r>
            <a:endParaRPr lang="en-US" sz="1050" dirty="0"/>
          </a:p>
        </ns0:txBody>
      </ns0:sp>
      <ns0:sp>
        <ns0:nvSpPr>
          <ns0:cNvPr id="43" name="Shape 41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4" name="Text 42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Latvian</a:t>
            </a:r>
            <a:endParaRPr lang="en-US" sz="105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6" name="Text 44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Lithuanian</a:t>
            </a:r>
            <a:endParaRPr lang="en-US" sz="1050" dirty="0"/>
          </a:p>
        </ns0:txBody>
      </ns0:sp>
      <ns0:sp>
        <ns0:nvSpPr>
          <ns0:cNvPr id="47" name="Shape 45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8" name="Text 46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Maltese</a:t>
            </a:r>
            <a:endParaRPr lang="en-US" sz="1050" dirty="0"/>
          </a:p>
        </ns0:txBody>
      </ns0:sp>
      <ns0:sp>
        <ns0:nvSpPr>
          <ns0:cNvPr id="49" name="Shape 47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0" name="Text 48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050" dirty="0"/>
          </a:p>
        </ns0:txBody>
      </ns0:sp>
      <ns0:sp>
        <ns0:nvSpPr>
          <ns0:cNvPr id="51" name="Shape 49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2" name="Text 50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050" dirty="0"/>
          </a:p>
        </ns0:txBody>
      </ns0:sp>
      <ns0:sp>
        <ns0:nvSpPr>
          <ns0:cNvPr id="53" name="Shape 51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4" name="Text 52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Romanian</a:t>
            </a:r>
            <a:endParaRPr lang="en-US" sz="1050" dirty="0"/>
          </a:p>
        </ns0:txBody>
      </ns0:sp>
      <ns0:sp>
        <ns0:nvSpPr>
          <ns0:cNvPr id="55" name="Shape 53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6" name="Text 54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</a:t>
            </a:r>
            <a:endParaRPr lang="en-US" sz="1050" dirty="0"/>
          </a:p>
        </ns0:txBody>
      </ns0:sp>
      <ns0:sp>
        <ns0:nvSpPr>
          <ns0:cNvPr id="57" name="Shape 55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8" name="Text 56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Slovenian</a:t>
            </a:r>
            <a:endParaRPr lang="en-US" sz="1050" dirty="0"/>
          </a:p>
        </ns0:txBody>
      </ns0:sp>
      <ns0:sp>
        <ns0:nvSpPr>
          <ns0:cNvPr id="59" name="Shape 57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0" name="Text 58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</a:t>
            </a:r>
            <a:endParaRPr lang="en-US" sz="1050" dirty="0"/>
          </a:p>
        </ns0:txBody>
      </ns0:sp>
      <ns0:sp>
        <ns0:nvSpPr>
          <ns0:cNvPr id="61" name="Shape 59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2" name="Text 60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</a:t>
            </a:r>
            <a:endParaRPr lang="en-US" sz="1050" dirty="0"/>
          </a:p>
        </ns0:txBody>
      </ns0:sp>
      <ns0:sp>
        <ns0:nvSpPr>
          <ns0:cNvPr id="63" name="Shape 61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4" name="Text 62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 for the most common stumbling blocks.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2011680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errors on launch</a:t>
            </a:r>
            <a:endParaRPr lang="en-US" sz="12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Start_Dashboard.bat. It reinstalls missing packages automatically.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011680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not found or missing default sample files</a:t>
            </a:r>
            <a:endParaRPr lang="en-US" sz="12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extracted the full folder; if default files are missing, upload your own survey, auxiliary, and geometry files.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2871216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will not render</a:t>
            </a:r>
            <a:endParaRPr lang="en-US" sz="12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Start_Dashboard.bat; check the Status tab and app_runs/&lt;run_label&gt;/run.log.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871216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invalid key</a:t>
            </a:r>
            <a:endParaRPr lang="en-US" sz="120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only the key — no quotes, no spaces. Check billing is active.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3730752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 times out</a:t>
            </a:r>
            <a:endParaRPr lang="en-US" sz="120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again; reduce year range or disable vision mode.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730752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doesn't render</a:t>
            </a:r>
            <a:endParaRPr lang="en-US" sz="120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geometry domain IDs match your data and the mapped shapefile domain column.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8580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launch, analyse.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the GitHub Releases page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660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7660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20" y="26517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5092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5092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59664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5028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05028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265176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2460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32460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37032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key in the AI panel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6405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Nobuo Yoshida  ·  nyoshida@worldbank.org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2697</Words>
  <Application>Microsoft Office PowerPoint</Application>
  <PresentationFormat>On-screen Show (16:9)</PresentationFormat>
  <Paragraphs>525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Package — A Practical Guide to app.R</dc:title>
  <dc:subject>PptxGenJS Presentation</dc:subject>
  <dc:creator>Nobuo Yoshida</dc:creator>
  <cp:lastModifiedBy>Haruna Kashiwase</cp:lastModifiedBy>
  <cp:revision>1</cp:revision>
  <dcterms:created xsi:type="dcterms:W3CDTF">2026-04-25T15:06:33Z</dcterms:created>
  <dcterms:modified xsi:type="dcterms:W3CDTF">2026-05-19T15:38:55Z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2026-05-19T15:38:55Z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4e4e302d-abba-46c8-b244-c82cebc430a8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Official Use Only</vt:lpwstr>
  </property>
</Properties>
</file>